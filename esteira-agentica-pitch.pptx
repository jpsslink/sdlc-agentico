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79" r:id="rId5"/>
    <p:sldId id="280" r:id="rId6"/>
    <p:sldId id="281" r:id="rId7"/>
    <p:sldId id="282" r:id="rId8"/>
    <p:sldId id="283" r:id="rId9"/>
    <p:sldId id="284" r:id="rId10"/>
    <p:sldId id="260" r:id="rId11"/>
    <p:sldId id="259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61" r:id="rId21"/>
    <p:sldId id="262" r:id="rId22"/>
    <p:sldId id="266" r:id="rId23"/>
    <p:sldId id="268" r:id="rId24"/>
    <p:sldId id="286" r:id="rId25"/>
    <p:sldId id="287" r:id="rId26"/>
    <p:sldId id="265" r:id="rId27"/>
    <p:sldId id="264" r:id="rId28"/>
    <p:sldId id="285" r:id="rId29"/>
    <p:sldId id="267" r:id="rId30"/>
    <p:sldId id="288" r:id="rId31"/>
    <p:sldId id="289" r:id="rId32"/>
    <p:sldId id="290" r:id="rId33"/>
    <p:sldId id="291" r:id="rId3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60"/>
    <p:restoredTop sz="94610"/>
  </p:normalViewPr>
  <p:slideViewPr>
    <p:cSldViewPr snapToGrid="0" snapToObjects="1">
      <p:cViewPr varScale="1">
        <p:scale>
          <a:sx n="196" d="100"/>
          <a:sy n="196" d="100"/>
        </p:scale>
        <p:origin x="25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4908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apresentar a proposta de esteira AI-native SDLC para plataforma mobile. Baseada no playbook da Anthropic, adaptada para GitHub Copilot Enterprise + React Native multi-bundle.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Copilot já está contratado, mas uso individual não escala. Precisamos de uma estrutura organizacional — artefatos, contexto, gates, métricas — para converter adoção em vantagem competitiva.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proposta em uma frase. Enfatizar: usamos o runtime que já existe (Copilot Enterprise), sem nova ferramenta. Artefatos Markdown em git = rastreáveis, diff-áveis, auditáveis.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Macrofluxo em loop: sentido horário. Top: Negocial (externo, âmbar)→02 Spec→03 Plan. Desce à direita. Bottom (dir→esq): 04 Build→05 Test→06 Deploy→07 Maintain. Sobe à esquerda: 07 gera intent.md que re-entra no pipeline. O loop fecha. Negocial está em âmbar para indicar que é externo ao time de plataforma mobile.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= Copilot contextualizado. Não é um processo externo. Skills são o mecanismo de conhecimento — determinísticas, versionadas, portáveis entre runtimes.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artefatos não são burocracia — são o mecanismo que cria contexto, governa decisões e permite rastreabilidade. Sem eles, o agente opera sem contexto e o humano sem registro.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Arquitetura em 3 camadas que operam em paralelo: pipeline de artefatos, infraestrutura de conhecimento (skills), e monitoramento contínuo. Todas as integrações usam sistemas existentes.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Princípio central: nenhum agente aprova seu próprio output. Gates calibrados ao risco. A esteira começa conservadora e pode relaxar gates à medida que evals comprovam confiabilidade.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Evals são testes para agentes. Cada mudança em skill ou instrução dispara CI. Pass rate de 85% é o gate — abaixo disso, o merge é bloqueado. Incidentes de produção viram evals permanentes: "não pode acontecer de novo" tem implementação concreta.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ADR-012 (novo): a documentação de plataforma existente está desatualizada e incompleta. A Fase 0 começa com 3 sub-etapas: inventário (0-A), validação com SMEs (0-B), e definição de dono + processo de manutenção por domínio (0-C). Skills sem fonte de verdade validada não entram em produção. Dois bloqueadores: ADR-009 (distribuição) e ADR-012 (qualidade do conteúdo).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não RAG? RAG é probabilístico — o chunk certo pode não ser retornado. Para segurança e compliance, "às vezes carrega a regra certa" não é aceitável. Skills são determinísticas e testáveis em evals.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ADR-011: O api-contract.md é o handoff formal com backend. O adapter pattern garante zero acoplamento — troca de mock para real é mudança em um arquivo. Feature flag no deploy garante que mock nunca vai a produção exposto.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82BE92-52B5-A6BF-BD86-53304F6771C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8623300" y="63500"/>
            <a:ext cx="4826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BR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#interna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1D4ED8">
              <a:alpha val="20000"/>
            </a:srgbClr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Shape 1"/>
          <p:cNvSpPr/>
          <p:nvPr/>
        </p:nvSpPr>
        <p:spPr>
          <a:xfrm>
            <a:off x="7498080" y="274320"/>
            <a:ext cx="2286000" cy="2286000"/>
          </a:xfrm>
          <a:prstGeom prst="ellipse">
            <a:avLst/>
          </a:prstGeom>
          <a:solidFill>
            <a:srgbClr val="2563EB">
              <a:alpha val="15000"/>
            </a:srgbClr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4" name="Text 2"/>
          <p:cNvSpPr txBox="1"/>
          <p:nvPr/>
        </p:nvSpPr>
        <p:spPr>
          <a:xfrm>
            <a:off x="731520" y="1371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Esteira Agêntica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SDLC Mobile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2880360"/>
            <a:ext cx="1645920" cy="36576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Text 5"/>
          <p:cNvSpPr txBox="1"/>
          <p:nvPr/>
        </p:nvSpPr>
        <p:spPr>
          <a:xfrm>
            <a:off x="731520" y="3154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executam. Humanos governam.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  |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gap está crescendo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657600" cy="2468880"/>
          </a:xfrm>
          <a:prstGeom prst="roundRect">
            <a:avLst>
              <a:gd name="adj" fmla="val 2963"/>
            </a:avLst>
          </a:prstGeom>
          <a:solidFill>
            <a:srgbClr val="EFF6FF"/>
          </a:solidFill>
          <a:ln/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914400" y="1463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não é falta de ferramentas de IA.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Copilot Enterprise já está contratado. O problema é que adoção pontual não gera ganho de escala.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35331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ext 6"/>
          <p:cNvSpPr txBox="1"/>
          <p:nvPr/>
        </p:nvSpPr>
        <p:spPr>
          <a:xfrm>
            <a:off x="475488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12801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com IA estruturada entregam mais, com menos bugs, em menos tempo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Text 9"/>
          <p:cNvSpPr txBox="1"/>
          <p:nvPr/>
        </p:nvSpPr>
        <p:spPr>
          <a:xfrm>
            <a:off x="4754880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0574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individual ("cada um usa do seu jeito") não se converte em vantagem organizacional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9718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4" name="Text 12"/>
          <p:cNvSpPr txBox="1"/>
          <p:nvPr/>
        </p:nvSpPr>
        <p:spPr>
          <a:xfrm>
            <a:off x="47548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8803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 é estrutura: artefatos padronizados, contexto determinístico, gates automáticos, métricas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/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17" name="Text 15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esteira é essa estrutura.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esteira onde cada estágio tem</a:t>
            </a:r>
            <a:endParaRPr lang="en-US" sz="26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especializado, rodando no</a:t>
            </a:r>
            <a:endParaRPr lang="en-US" sz="26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que já temos, gerenciando</a:t>
            </a:r>
            <a:endParaRPr lang="en-US" sz="26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artefatos versionados em git.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1828800" cy="36576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73152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Baseado no AI-native SDLC Playbook da Anthropic.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Adaptado para React Native multi-bundle + GitHub Copilot Enterprise.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Antes de implementar a esteira: o que precisa mudar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300" b="0" i="1" dirty="0">
                <a:solidFill>
                  <a:srgbClr val="475569"/>
                </a:solidFill>
                <a:latin typeface="Calibri"/>
              </a:rPr>
              <a:t>"Implementar uma esteira agêntica não é só uma mudança técnica — é uma mudança de processo, cultura e como o time opera"</a:t>
            </a:r>
          </a:p>
        </p:txBody>
      </p:sp>
      <p:sp>
        <p:nvSpPr>
          <p:cNvPr id="6" name="BDADOS"/>
          <p:cNvSpPr/>
          <p:nvPr/>
        </p:nvSpPr>
        <p:spPr>
          <a:xfrm>
            <a:off x="114600" y="1211880"/>
            <a:ext cx="4400100" cy="175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BBDADOS"/>
          <p:cNvSpPr/>
          <p:nvPr/>
        </p:nvSpPr>
        <p:spPr>
          <a:xfrm>
            <a:off x="114600" y="1211880"/>
            <a:ext cx="4400100" cy="2743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BLDADOS"/>
          <p:cNvSpPr txBox="1"/>
          <p:nvPr/>
        </p:nvSpPr>
        <p:spPr>
          <a:xfrm>
            <a:off x="114600" y="1211880"/>
            <a:ext cx="44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dirty="0">
                <a:solidFill>
                  <a:srgbClr val="FFFFFF"/>
                </a:solidFill>
                <a:latin typeface="Calibri"/>
              </a:rPr>
              <a:t>DADOS</a:t>
            </a:r>
          </a:p>
        </p:txBody>
      </p:sp>
      <p:sp>
        <p:nvSpPr>
          <p:cNvPr id="9" name="BDDADOS"/>
          <p:cNvSpPr txBox="1"/>
          <p:nvPr/>
        </p:nvSpPr>
        <p:spPr>
          <a:xfrm>
            <a:off x="114600" y="1486200"/>
            <a:ext cx="4400100" cy="14756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Documentação, guidelines e regras obrigatórias precisam estar corretos e atualizados. A esteira os codifica como verdade — erros escalam automaticamente.</a:t>
            </a:r>
          </a:p>
        </p:txBody>
      </p:sp>
      <p:sp>
        <p:nvSpPr>
          <p:cNvPr id="10" name="BPROCESSOS"/>
          <p:cNvSpPr/>
          <p:nvPr/>
        </p:nvSpPr>
        <p:spPr>
          <a:xfrm>
            <a:off x="4629300" y="1211880"/>
            <a:ext cx="4400100" cy="175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BBPROCESSOS"/>
          <p:cNvSpPr/>
          <p:nvPr/>
        </p:nvSpPr>
        <p:spPr>
          <a:xfrm>
            <a:off x="4629300" y="1211880"/>
            <a:ext cx="4400100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2" name="BLPROCESSOS"/>
          <p:cNvSpPr txBox="1"/>
          <p:nvPr/>
        </p:nvSpPr>
        <p:spPr>
          <a:xfrm>
            <a:off x="4629300" y="1211880"/>
            <a:ext cx="44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dirty="0">
                <a:solidFill>
                  <a:srgbClr val="FFFFFF"/>
                </a:solidFill>
                <a:latin typeface="Calibri"/>
              </a:rPr>
              <a:t>PROCESSOS</a:t>
            </a:r>
          </a:p>
        </p:txBody>
      </p:sp>
      <p:sp>
        <p:nvSpPr>
          <p:cNvPr id="13" name="BDPROCESSOS"/>
          <p:cNvSpPr txBox="1"/>
          <p:nvPr/>
        </p:nvSpPr>
        <p:spPr>
          <a:xfrm>
            <a:off x="4629300" y="1486200"/>
            <a:ext cx="4400100" cy="14756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O fluxo de desenvolvimento precisa ser redesenhado para incorporar IA em cada estágio: planejamento, implementação, revisão e deploy.</a:t>
            </a:r>
          </a:p>
        </p:txBody>
      </p:sp>
      <p:sp>
        <p:nvSpPr>
          <p:cNvPr id="14" name="BCAPACITAÇÃO"/>
          <p:cNvSpPr/>
          <p:nvPr/>
        </p:nvSpPr>
        <p:spPr>
          <a:xfrm>
            <a:off x="114600" y="3076480"/>
            <a:ext cx="4400100" cy="175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BBCAPACITAÇÃO"/>
          <p:cNvSpPr/>
          <p:nvPr/>
        </p:nvSpPr>
        <p:spPr>
          <a:xfrm>
            <a:off x="114600" y="3076480"/>
            <a:ext cx="4400100" cy="2743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BLCAPACITAÇÃO"/>
          <p:cNvSpPr txBox="1"/>
          <p:nvPr/>
        </p:nvSpPr>
        <p:spPr>
          <a:xfrm>
            <a:off x="114600" y="3076480"/>
            <a:ext cx="44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dirty="0">
                <a:solidFill>
                  <a:srgbClr val="FFFFFF"/>
                </a:solidFill>
                <a:latin typeface="Calibri"/>
              </a:rPr>
              <a:t>CAPACITAÇÃO</a:t>
            </a:r>
          </a:p>
        </p:txBody>
      </p:sp>
      <p:sp>
        <p:nvSpPr>
          <p:cNvPr id="17" name="BDCAPACITAÇÃO"/>
          <p:cNvSpPr txBox="1"/>
          <p:nvPr/>
        </p:nvSpPr>
        <p:spPr>
          <a:xfrm>
            <a:off x="114600" y="3350800"/>
            <a:ext cx="4400100" cy="14756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O time precisa operar diferente — não só usar novas ferramentas. Novos papéis, novos artefatos, novas responsabilidades em cada estágio.</a:t>
            </a:r>
          </a:p>
        </p:txBody>
      </p:sp>
      <p:sp>
        <p:nvSpPr>
          <p:cNvPr id="18" name="BCULTURA"/>
          <p:cNvSpPr/>
          <p:nvPr/>
        </p:nvSpPr>
        <p:spPr>
          <a:xfrm>
            <a:off x="4629300" y="3076480"/>
            <a:ext cx="4400100" cy="175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BBCULTURA"/>
          <p:cNvSpPr/>
          <p:nvPr/>
        </p:nvSpPr>
        <p:spPr>
          <a:xfrm>
            <a:off x="4629300" y="3076480"/>
            <a:ext cx="4400100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BLCULTURA"/>
          <p:cNvSpPr txBox="1"/>
          <p:nvPr/>
        </p:nvSpPr>
        <p:spPr>
          <a:xfrm>
            <a:off x="4629300" y="3076480"/>
            <a:ext cx="44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dirty="0">
                <a:solidFill>
                  <a:srgbClr val="FFFFFF"/>
                </a:solidFill>
                <a:latin typeface="Calibri"/>
              </a:rPr>
              <a:t>CULTURA</a:t>
            </a:r>
          </a:p>
        </p:txBody>
      </p:sp>
      <p:sp>
        <p:nvSpPr>
          <p:cNvPr id="21" name="BDCULTURA"/>
          <p:cNvSpPr txBox="1"/>
          <p:nvPr/>
        </p:nvSpPr>
        <p:spPr>
          <a:xfrm>
            <a:off x="4629300" y="3350800"/>
            <a:ext cx="4400100" cy="14756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IA como parceiro do processo, não automação pontual. A mudança de mentalidade é o principal fator de sucesso ou fracasso da adoção.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06 / 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O que já identificamos</a:t>
            </a:r>
          </a:p>
        </p:txBody>
      </p:sp>
      <p:sp>
        <p:nvSpPr>
          <p:cNvPr id="4" name="Intro"/>
          <p:cNvSpPr txBox="1"/>
          <p:nvPr/>
        </p:nvSpPr>
        <p:spPr>
          <a:xfrm>
            <a:off x="228600" y="74295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>
              <a:buNone/>
            </a:pPr>
            <a:r>
              <a:rPr lang="pt-BR" sz="1250" b="0" i="1" dirty="0">
                <a:solidFill>
                  <a:srgbClr val="334155"/>
                </a:solidFill>
                <a:latin typeface="Calibri"/>
              </a:rPr>
              <a:t>Além de uma revisão ampla do processo como um todo, já identificamos 4 mudanças fundacionais que precisam acontecer para que nossa esteira funcione. Sem elas, a esteira não será efetiva.</a:t>
            </a:r>
          </a:p>
        </p:txBody>
      </p:sp>
      <p:sp>
        <p:nvSpPr>
          <p:cNvPr id="5" name="NB0"/>
          <p:cNvSpPr/>
          <p:nvPr/>
        </p:nvSpPr>
        <p:spPr>
          <a:xfrm>
            <a:off x="228600" y="1257300"/>
            <a:ext cx="457200" cy="685800"/>
          </a:xfrm>
          <a:prstGeom prst="roundRect">
            <a:avLst>
              <a:gd name="adj" fmla="val 8000"/>
            </a:avLst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" name="N0"/>
          <p:cNvSpPr txBox="1"/>
          <p:nvPr/>
        </p:nvSpPr>
        <p:spPr>
          <a:xfrm>
            <a:off x="228600" y="125730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I0"/>
          <p:cNvSpPr txBox="1"/>
          <p:nvPr/>
        </p:nvSpPr>
        <p:spPr>
          <a:xfrm>
            <a:off x="742950" y="1257300"/>
            <a:ext cx="7401600" cy="68580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r>
              <a:rPr lang="pt-BR" sz="1200" b="1" dirty="0">
                <a:solidFill>
                  <a:srgbClr val="475569"/>
                </a:solidFill>
              </a:rPr>
              <a:t>Auditoria e Validação da Base de Conhecimento</a:t>
            </a:r>
          </a:p>
          <a:p>
            <a:r>
              <a:rPr lang="pt-BR" sz="1150" dirty="0">
                <a:solidFill>
                  <a:srgbClr val="475569"/>
                </a:solidFill>
              </a:rPr>
              <a:t>Garantir que o que os </a:t>
            </a:r>
            <a:r>
              <a:rPr lang="pt-BR" sz="1150" b="0" dirty="0">
                <a:solidFill>
                  <a:srgbClr val="475569"/>
                </a:solidFill>
                <a:latin typeface="Calibri"/>
              </a:rPr>
              <a:t>agentes injetam como contexto é correto e atualizado</a:t>
            </a:r>
          </a:p>
        </p:txBody>
      </p:sp>
      <p:sp>
        <p:nvSpPr>
          <p:cNvPr id="8" name="NB1"/>
          <p:cNvSpPr/>
          <p:nvPr/>
        </p:nvSpPr>
        <p:spPr>
          <a:xfrm>
            <a:off x="228600" y="2003100"/>
            <a:ext cx="457200" cy="685800"/>
          </a:xfrm>
          <a:prstGeom prst="roundRect">
            <a:avLst>
              <a:gd name="adj" fmla="val 8000"/>
            </a:avLst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9" name="N1"/>
          <p:cNvSpPr txBox="1"/>
          <p:nvPr/>
        </p:nvSpPr>
        <p:spPr>
          <a:xfrm>
            <a:off x="228600" y="200310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I1"/>
          <p:cNvSpPr txBox="1"/>
          <p:nvPr/>
        </p:nvSpPr>
        <p:spPr>
          <a:xfrm>
            <a:off x="742950" y="2003100"/>
            <a:ext cx="7401600" cy="68580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>
              <a:buNone/>
            </a:pPr>
            <a:r>
              <a:rPr lang="pt-BR" sz="1400" b="1" dirty="0">
                <a:solidFill>
                  <a:srgbClr val="475569"/>
                </a:solidFill>
                <a:latin typeface="Calibri"/>
              </a:rPr>
              <a:t>Arquitetura de Distribuição de Conhecimento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475569"/>
                </a:solidFill>
                <a:latin typeface="Calibri"/>
              </a:rPr>
              <a:t>Definir como o contexto chega aos agentes de forma determinística e governada</a:t>
            </a:r>
          </a:p>
        </p:txBody>
      </p:sp>
      <p:sp>
        <p:nvSpPr>
          <p:cNvPr id="11" name="NB2"/>
          <p:cNvSpPr/>
          <p:nvPr/>
        </p:nvSpPr>
        <p:spPr>
          <a:xfrm>
            <a:off x="228600" y="2748900"/>
            <a:ext cx="457200" cy="685800"/>
          </a:xfrm>
          <a:prstGeom prst="roundRect">
            <a:avLst>
              <a:gd name="adj" fmla="val 8000"/>
            </a:avLst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2" name="N2"/>
          <p:cNvSpPr txBox="1"/>
          <p:nvPr/>
        </p:nvSpPr>
        <p:spPr>
          <a:xfrm>
            <a:off x="228600" y="274890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3" name="I2"/>
          <p:cNvSpPr txBox="1"/>
          <p:nvPr/>
        </p:nvSpPr>
        <p:spPr>
          <a:xfrm>
            <a:off x="742950" y="2748900"/>
            <a:ext cx="7401600" cy="68580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>
              <a:buNone/>
            </a:pPr>
            <a:r>
              <a:rPr lang="pt-BR" sz="1400" b="1" dirty="0">
                <a:solidFill>
                  <a:srgbClr val="475569"/>
                </a:solidFill>
                <a:latin typeface="Calibri"/>
              </a:rPr>
              <a:t>BBDS como Infraestrutura Auto-gerada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475569"/>
                </a:solidFill>
                <a:latin typeface="Calibri"/>
              </a:rPr>
              <a:t>Pipeline de CI mantém a referência da API do BBDS sempre sincronizada com a versão instalada</a:t>
            </a:r>
          </a:p>
        </p:txBody>
      </p:sp>
      <p:sp>
        <p:nvSpPr>
          <p:cNvPr id="14" name="NB3"/>
          <p:cNvSpPr/>
          <p:nvPr/>
        </p:nvSpPr>
        <p:spPr>
          <a:xfrm>
            <a:off x="228600" y="3494700"/>
            <a:ext cx="457200" cy="685800"/>
          </a:xfrm>
          <a:prstGeom prst="roundRect">
            <a:avLst>
              <a:gd name="adj" fmla="val 8000"/>
            </a:avLst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N3"/>
          <p:cNvSpPr txBox="1"/>
          <p:nvPr/>
        </p:nvSpPr>
        <p:spPr>
          <a:xfrm>
            <a:off x="228600" y="349470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6" name="I3"/>
          <p:cNvSpPr txBox="1"/>
          <p:nvPr/>
        </p:nvSpPr>
        <p:spPr>
          <a:xfrm>
            <a:off x="742950" y="3494700"/>
            <a:ext cx="7401600" cy="68580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>
              <a:buNone/>
            </a:pPr>
            <a:r>
              <a:rPr lang="pt-BR" sz="1400" b="1" dirty="0">
                <a:solidFill>
                  <a:srgbClr val="475569"/>
                </a:solidFill>
                <a:latin typeface="Calibri"/>
              </a:rPr>
              <a:t>Contratos de API de Backend e Adapter Pattern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475569"/>
                </a:solidFill>
                <a:latin typeface="Calibri"/>
              </a:rPr>
              <a:t>Formalizar contratos e padronizar o padrão de isolamento entre frontend e backend</a:t>
            </a:r>
          </a:p>
        </p:txBody>
      </p:sp>
      <p:sp>
        <p:nvSpPr>
          <p:cNvPr id="17" name="Disc"/>
          <p:cNvSpPr txBox="1"/>
          <p:nvPr/>
        </p:nvSpPr>
        <p:spPr>
          <a:xfrm>
            <a:off x="228600" y="4260500"/>
            <a:ext cx="8686800" cy="3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pt-BR" sz="1000" b="0" i="1" dirty="0">
                <a:solidFill>
                  <a:srgbClr val="94A3B8"/>
                </a:solidFill>
                <a:latin typeface="Calibri"/>
              </a:rPr>
              <a:t>Estes 4 pontos não esgotam a análise — uma revisão mais ampla do processo precisa ser conduzida para identificar todas as mudanças necessárias.</a:t>
            </a:r>
          </a:p>
        </p:txBody>
      </p:sp>
      <p:sp>
        <p:nvSpPr>
          <p:cNvPr id="18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07 / 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Auditoria e Validação da Base de Conhecimento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300" b="0" i="1" dirty="0">
                <a:solidFill>
                  <a:srgbClr val="475569"/>
                </a:solidFill>
                <a:latin typeface="Calibri"/>
              </a:rPr>
              <a:t>"Conhecimento incorreto distribuído de forma determinística é um erro codificado com confiança — escalado em cada PR"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SITUAÇÃO ATUAL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Base de conhecimento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centralizada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Provavelmente incompleta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e desatualizada em partes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Sem distinção clara entre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norma obrigatória e sugestão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Sem processo de manutenção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ativo e ownership definido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POR QUE É PRÉ-REQUISITO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Agentes injetam o conhecimento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como contexto determinístico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Erro na documentação →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reproduzido em cada PR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1 erro humano ocasional →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1 erro automático sistemático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 não distingue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norma de preferência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IMPACTO SE NÃO RESOLVIDO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Agentes produzem output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errado com alta confiança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Retrabalho silencioso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no </a:t>
            </a:r>
            <a:r>
              <a:rPr lang="pt-BR" sz="1200" b="0" dirty="0" err="1">
                <a:solidFill>
                  <a:srgbClr val="1E293B"/>
                </a:solidFill>
                <a:latin typeface="Calibri"/>
              </a:rPr>
              <a:t>code</a:t>
            </a:r>
            <a:r>
              <a:rPr lang="pt-BR" sz="1200" b="0" dirty="0">
                <a:solidFill>
                  <a:srgbClr val="1E293B"/>
                </a:solidFill>
                <a:latin typeface="Calibri"/>
              </a:rPr>
              <a:t> review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Confiança nos agentes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deteriora rapidamente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Incidentes de compliance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difíceis de rastrear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475569"/>
                </a:solidFill>
                <a:latin typeface="Calibri"/>
              </a:rPr>
              <a:t>PRÉ-REQUISITO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Deve ser concluída antes de qualquer agente ser ativado (Fase 0-A, 0-B, 0-C)</a:t>
            </a:r>
          </a:p>
        </p:txBody>
      </p:sp>
      <p:sp>
        <p:nvSpPr>
          <p:cNvPr id="21" name="Muda"/>
          <p:cNvSpPr txBox="1"/>
          <p:nvPr/>
        </p:nvSpPr>
        <p:spPr>
          <a:xfrm>
            <a:off x="4571639" y="4389120"/>
            <a:ext cx="3794147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475569"/>
                </a:solidFill>
                <a:latin typeface="Calibri"/>
              </a:rPr>
              <a:t>O QUE MUDA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A qualidade dos agentes passa a depender diretamente da qualidade e atualidade da documentação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08 / 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Arquitetura de Distribuição de Conhecimento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300" b="0" i="1" dirty="0">
                <a:solidFill>
                  <a:srgbClr val="475569"/>
                </a:solidFill>
                <a:latin typeface="Calibri"/>
              </a:rPr>
              <a:t>"Sem arquitetura definida, o Copilot recebe contexto inconsistente — outputs variam por squad, por dev, por execução"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SITUAÇÃO ATUAL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Cada squad acessa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conhecimento diferente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Copilot sem contexto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padronizado entre projetos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Mudanças em regras não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propagam automaticamente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Sem mecanismo de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enforcement centralizado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POR QUE É PRÉ-REQUISITO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Agentes precisam de contexto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determinístico para gerar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outputs consistentes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Sem isso, evals são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irreprodutíveis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Drift silencioso entre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projetos e </a:t>
            </a:r>
            <a:r>
              <a:rPr lang="pt-BR" sz="1200" b="0" dirty="0" err="1">
                <a:solidFill>
                  <a:srgbClr val="1E293B"/>
                </a:solidFill>
                <a:latin typeface="Calibri"/>
              </a:rPr>
              <a:t>squads</a:t>
            </a:r>
            <a:endParaRPr lang="pt-BR" sz="1200" b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IMPACTO SE NÃO RESOLVIDO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Outputs variam por dev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e por execução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Impossível auditar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comportamento dos agentes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Evals não capturam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variação do contexto real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Sem arquitetura: cada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squad reimplementa ad hoc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475569"/>
                </a:solidFill>
                <a:latin typeface="Calibri"/>
              </a:rPr>
              <a:t>DECISÃO PENDENTE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ADR-009: MCP server central, npm versionado ou arquitetura híbrida — bloqueia Fase 0</a:t>
            </a:r>
          </a:p>
        </p:txBody>
      </p:sp>
      <p:sp>
        <p:nvSpPr>
          <p:cNvPr id="21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475569"/>
                </a:solidFill>
                <a:latin typeface="Calibri"/>
              </a:rPr>
              <a:t>O QUE MUDA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Conhecimento de plataforma vira infraestrutura — mantida como código, não como documento avulso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09 / 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BBDS como Infraestrutura Auto-gerada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300" b="0" i="1" dirty="0">
                <a:solidFill>
                  <a:srgbClr val="475569"/>
                </a:solidFill>
                <a:latin typeface="Calibri"/>
              </a:rPr>
              <a:t>"O Agente 04 constrói UI usando a API do BBDS — referência desatualizada significa props obsoletas em cada PR"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SITUAÇÃO ATUAL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API do BBDS documentada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manualmente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Provavelmente desatualizada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vs. versão instalada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Dev (e agente) não sabe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quais props existem hoje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@deprecated sem migration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path visível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POR QUE É PRÉ-REQUISITO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 04 (Build) constrói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UI usando a API do BBDS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Referência desatualizada →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props obsoletas no código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Bug silencioso até o CI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falhar ou PR ser revisado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Sem auto-geração: problema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é permanente e recorrente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IMPACTO SE NÃO RESOLVIDO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 04 produz código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com props deprecadas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sistematicamente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Code review verifica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BBDS manualmente em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cada PR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Regressões de UI invisíveis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até teste de integração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475569"/>
                </a:solidFill>
                <a:latin typeface="Calibri"/>
              </a:rPr>
              <a:t>PRÉ-REQUISITO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Pipeline de auto-geração validado antes do Agente 04 ser ativado em produção</a:t>
            </a:r>
          </a:p>
        </p:txBody>
      </p:sp>
      <p:sp>
        <p:nvSpPr>
          <p:cNvPr id="21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475569"/>
                </a:solidFill>
                <a:latin typeface="Calibri"/>
              </a:rPr>
              <a:t>O QUE MUDA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BBDS deixa de ser documento → vira referência viva, sempre sincronizada com o que está instalado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10 / 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Contratos de API de Backend e Adapter Pattern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300" b="0" i="1" dirty="0">
                <a:solidFill>
                  <a:srgbClr val="475569"/>
                </a:solidFill>
                <a:latin typeface="Calibri"/>
              </a:rPr>
              <a:t>"Sem contrato formal, o Agente 02 não consegue classificar endpoints — e o frontend permanece acoplado ao backend"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SITUAÇÃO ATUAL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Integração com backend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direta, sem contrato formal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Mudanças de API quebram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o frontend sem aviso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Sem isolamento: mudança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de backend → mudança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simultânea no </a:t>
            </a:r>
            <a:r>
              <a:rPr lang="pt-BR" sz="1200" b="0" dirty="0" err="1">
                <a:solidFill>
                  <a:srgbClr val="1E293B"/>
                </a:solidFill>
                <a:latin typeface="Calibri"/>
              </a:rPr>
              <a:t>frontend</a:t>
            </a: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Adapter pattern não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padronizado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POR QUE É PRÉ-REQUISITO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 02 (Spec) classifica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endpoints antes de qualquer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código — sem contrato,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não consegue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Adapter pattern é requisito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dos Agentes 04 e 06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Feature flags dependem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do padrão de adapter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IMPACTO SE NÃO RESOLVIDO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 02 gera spec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incompleta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 04 não sabe como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isolar mudanças de </a:t>
            </a:r>
            <a:r>
              <a:rPr lang="pt-BR" sz="1200" b="0" dirty="0" err="1">
                <a:solidFill>
                  <a:srgbClr val="1E293B"/>
                </a:solidFill>
                <a:latin typeface="Calibri"/>
              </a:rPr>
              <a:t>backend</a:t>
            </a: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Frontend e backend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acoplados: paralelo de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desenvolvimento impossível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Feature flags não funcionam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475569"/>
                </a:solidFill>
                <a:latin typeface="Calibri"/>
              </a:rPr>
              <a:t>PRÉ-REQUISITO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Adapter pattern documentado e validado em pelo menos 1 feature antes da rollout</a:t>
            </a:r>
          </a:p>
        </p:txBody>
      </p:sp>
      <p:sp>
        <p:nvSpPr>
          <p:cNvPr id="21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475569"/>
                </a:solidFill>
                <a:latin typeface="Calibri"/>
              </a:rPr>
              <a:t>O QUE MUDA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Frontend desacoplado — features avançam em paralelo ao backend com rastreabilidade completa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11 / 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intent ao monitoramento — 6 agentes, 1 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33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2860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F0FDF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22860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" y="22860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intent.md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28600" y="2560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012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/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9" name="Text 7"/>
          <p:cNvSpPr txBox="1"/>
          <p:nvPr/>
        </p:nvSpPr>
        <p:spPr>
          <a:xfrm>
            <a:off x="106984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intent.md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2044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12" name="Text 10"/>
          <p:cNvSpPr txBox="1"/>
          <p:nvPr/>
        </p:nvSpPr>
        <p:spPr>
          <a:xfrm>
            <a:off x="363016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Spec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spec.md + api-contract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15" name="Text 13"/>
          <p:cNvSpPr txBox="1"/>
          <p:nvPr/>
        </p:nvSpPr>
        <p:spPr>
          <a:xfrm>
            <a:off x="619048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Plan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9048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8388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Text 18"/>
          <p:cNvSpPr txBox="1"/>
          <p:nvPr/>
        </p:nvSpPr>
        <p:spPr>
          <a:xfrm>
            <a:off x="8183880" y="2926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9224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22" name="Text 20"/>
          <p:cNvSpPr txBox="1"/>
          <p:nvPr/>
        </p:nvSpPr>
        <p:spPr>
          <a:xfrm>
            <a:off x="660196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Build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0196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+ adapters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90288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25" name="Text 23"/>
          <p:cNvSpPr txBox="1"/>
          <p:nvPr/>
        </p:nvSpPr>
        <p:spPr>
          <a:xfrm>
            <a:off x="481888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Test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CI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395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28" name="Text 26"/>
          <p:cNvSpPr txBox="1"/>
          <p:nvPr/>
        </p:nvSpPr>
        <p:spPr>
          <a:xfrm>
            <a:off x="303580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Deploy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03580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→ produção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22960" y="325721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/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31" name="Text 29"/>
          <p:cNvSpPr txBox="1"/>
          <p:nvPr/>
        </p:nvSpPr>
        <p:spPr>
          <a:xfrm>
            <a:off x="106984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Maintain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6984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126870" y="3436847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4242816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2359152" y="3429649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34747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</a:t>
            </a:r>
            <a:endParaRPr lang="en-US" sz="14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228600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8" name="Text 36"/>
          <p:cNvSpPr txBox="1"/>
          <p:nvPr/>
        </p:nvSpPr>
        <p:spPr>
          <a:xfrm>
            <a:off x="2542032" y="42976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 ao time — inicia o ciclo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9204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40" name="Text 38"/>
          <p:cNvSpPr txBox="1"/>
          <p:nvPr/>
        </p:nvSpPr>
        <p:spPr>
          <a:xfrm>
            <a:off x="5148072" y="42976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"agente" nesse contexto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ext 3"/>
          <p:cNvSpPr txBox="1"/>
          <p:nvPr/>
        </p:nvSpPr>
        <p:spPr>
          <a:xfrm>
            <a:off x="1051560" y="129844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um processo em background — roda dentro do VS Code, no fluxo do dev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Text 5"/>
          <p:cNvSpPr txBox="1"/>
          <p:nvPr/>
        </p:nvSpPr>
        <p:spPr>
          <a:xfrm>
            <a:off x="1051560" y="207568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Instruções via copilot-instructions.md + contexto de plataforma injetado (MCP)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9" name="Text 7"/>
          <p:cNvSpPr txBox="1"/>
          <p:nvPr/>
        </p:nvSpPr>
        <p:spPr>
          <a:xfrm>
            <a:off x="1051560" y="285292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 abre com intent.md → Agente 02. O engenheiro abre com spec.md → Agente 04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840480" cy="256032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/>
          <a:effectLst>
            <a:outerShdw blurRad="508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BR"/>
          </a:p>
        </p:txBody>
      </p:sp>
      <p:sp>
        <p:nvSpPr>
          <p:cNvPr id="11" name="Text 9"/>
          <p:cNvSpPr txBox="1"/>
          <p:nvPr/>
        </p:nvSpPr>
        <p:spPr>
          <a:xfrm>
            <a:off x="4846320" y="14173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Copilot agent mode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copilot-instructions.md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(sempre carregado)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MCP: bbds-api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(consultado por contexto)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MCP: security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(consultado por contexto)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Agente especializado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de conhecimento portável — funciona em Copilot e Claude Code sem modificação.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01 — Intent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Plan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+ BusinessMap MCP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FFBEB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400" b="0" i="1" dirty="0">
                <a:solidFill>
                  <a:srgbClr val="D97706"/>
                </a:solidFill>
                <a:latin typeface="Calibri"/>
              </a:rPr>
              <a:t>"Transforma um card do BusinessMap em intent.md em minutos. Força a articulação do problema antes de qualquer solução."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Card do BusinessMap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título e descrição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tipo (feature/bug/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  improvement)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labels e responsável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comentários (opcional)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Busca dados do card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via BusinessMap MCP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Preenche template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intent.md completo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Sinaliza campos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incompletos para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o PO revisar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intent.md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Problema declarado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Outcome mensurável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Sistemas afetados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Perguntas abertas</a:t>
            </a:r>
          </a:p>
          <a:p>
            <a:pPr marL="0" indent="0">
              <a:buNone/>
            </a:pPr>
            <a:endParaRPr lang="pt-BR" sz="13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Campos incompletos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listados em open_questions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D97706"/>
                </a:solidFill>
                <a:latin typeface="Calibri"/>
              </a:rPr>
              <a:t>GATE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Product Owner — merge do PR = aprovação formal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D97706"/>
                </a:solidFill>
                <a:latin typeface="Calibri"/>
              </a:rPr>
              <a:t>O QUE MUDA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Fim das specs implícitas — o problema é declarado antes de qualquer solução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12 / 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02 — Spec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Design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+ MCP (security, BBDS, standards)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400" b="0" i="1" dirty="0">
                <a:solidFill>
                  <a:srgbClr val="7C3AED"/>
                </a:solidFill>
                <a:latin typeface="Calibri"/>
              </a:rPr>
              <a:t>"Gera spec técnica completa com políticas aplicadas durante a geração — não descobertas em revisão semanas depois."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intent.md aprovado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Protótipo Figma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(referência de telas)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Contexto MCP injetado: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security, BBDS UX,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platform-standards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Catálogo de serviços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(quando disponível)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Injeta políticas via MCP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Gera RF com critérios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de aceitação verificáveis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Mapeia componentes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BBDS por tela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4. Classifica endpoints: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reutilizar / extensão /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novo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5. Levanta flags 🔴/🟡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spec.md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RF + critérios AC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Mapeamento BBDS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Flags 🔴 bloqueantes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Flags 🟡 de risco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Endpoints classificados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Contratos de API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7C3AED"/>
                </a:solidFill>
                <a:latin typeface="Calibri"/>
              </a:rPr>
              <a:t>GATE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PO + Policy Owners — todas as flags 🔴 resolvidas antes do merge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860454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7C3AED"/>
                </a:solidFill>
                <a:latin typeface="Calibri"/>
              </a:rPr>
              <a:t>O QUE MUDA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Políticas de segurança e compliance aplicadas na geração, não descobertas no code review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13 / 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03 — Plan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Planning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Plan Mode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CFEF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400" b="0" i="1" dirty="0">
                <a:solidFill>
                  <a:srgbClr val="0891B2"/>
                </a:solidFill>
                <a:latin typeface="Calibri"/>
              </a:rPr>
              <a:t>"Transforma spec.md em plano concreto: arquivos que mudam, ordem de trabalho e riscos. Nenhuma implementação começa sem plano escrito."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spec.md aprovado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copilot-instructions.md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do bundle (contexto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do repo, padrões,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anti-patterns,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dependências)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Analisa repo em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Plan Mode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Lista arquivos que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mudam + ordem com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dependências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Planeja adapters por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endpoint do contrato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4. Identifica riscos e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estratégia de testes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plan.md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Arquivos criados /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  modificados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Ordem de trabalho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Adapters planejados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Riscos identificados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Critérios de pronto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0891B2"/>
                </a:solidFill>
                <a:latin typeface="Calibri"/>
              </a:rPr>
              <a:t>GATE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Engenheiro — commit do plan.md (CI bloqueia qualquer PR sem o arquivo)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0891B2"/>
                </a:solidFill>
                <a:latin typeface="Calibri"/>
              </a:rPr>
              <a:t>O QUE MUDA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Planejamento sai da cabeça do dev e entra no repositório como artefato revisável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14 / 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04 — Build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Build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Edits + figma-to-code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400" b="0" i="1" dirty="0">
                <a:solidFill>
                  <a:srgbClr val="059669"/>
                </a:solidFill>
                <a:latin typeface="Calibri"/>
              </a:rPr>
              <a:t>"Implementa o plan.md com a API correta do BBDS, validada automaticamente. Props obsoletas detectadas antes do código ser escrito."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plan.md (roteiro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sequencial)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Telas do Figma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bbds-api-reference.md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(auto-gerado em CI,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sempre atualizado)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Segue plan.md item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a item via Copilot Edits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figma-to-code cruza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cada elemento UI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contra API BBDS atual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Cria adapters com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interface + mock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(feature flag off)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4. Gera testes conforme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estratégia do plan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Código implementado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Adapters de backend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(interface + mock,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feature flag desligada)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Testes unitários e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de integração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PR pronto para review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059669"/>
                </a:solidFill>
                <a:latin typeface="Calibri"/>
              </a:rPr>
              <a:t>GATE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CI green — testes + lint + validação BBDS automática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059669"/>
                </a:solidFill>
                <a:latin typeface="Calibri"/>
              </a:rPr>
              <a:t>O QUE MUDA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API BBDS sempre atualizada no contexto — props obsoletas detectadas antes de codar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15 / 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05 — Test</a:t>
            </a:r>
          </a:p>
          <a:p>
            <a:pPr marL="0" indent="0">
              <a:buNone/>
            </a:pPr>
            <a:r>
              <a:rPr lang="pt-BR" sz="1200" b="0" i="1" dirty="0">
                <a:solidFill>
                  <a:srgbClr val="FFFFFF"/>
                </a:solidFill>
                <a:latin typeface="Calibri"/>
              </a:rPr>
              <a:t>Modo 1 — Análise de falha de CI em PRs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Test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API + GitHub Actions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400" b="0" i="1" dirty="0">
                <a:solidFill>
                  <a:srgbClr val="DC2626"/>
                </a:solidFill>
                <a:latin typeface="Calibri"/>
              </a:rPr>
              <a:t>"Detecta CI em falha e posta diagnóstico + sugestão de fix diretamente no PR, em menos de 5 minutos."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Log de CI em falha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(qualquer PR do repo)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Código do PR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(git diff origin/main)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copilot-instructions.md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do bundle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Detecta CI em falha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no PR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Analisa log + código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do PR correlacionados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Formula diagnóstico: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causa raiz + arquivo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+ linha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4. Posta comentário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automático no PR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Comentário no PR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Falha identificada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Arquivo e linha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Causa provável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Sugestão de fix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  (código pronto)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Nível de confiança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DC2626"/>
                </a:solidFill>
                <a:latin typeface="Calibri"/>
              </a:rPr>
              <a:t>GATE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Dev revisa a sugestão e decide se aplica — decisão sempre humana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DC2626"/>
                </a:solidFill>
                <a:latin typeface="Calibri"/>
              </a:rPr>
              <a:t>O QUE MUDA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Dev recebe diagnóstico em &lt; 5 min — não passa horas debugando logs de CI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16 / 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05 — Test</a:t>
            </a:r>
          </a:p>
          <a:p>
            <a:pPr marL="0" indent="0">
              <a:buNone/>
            </a:pPr>
            <a:r>
              <a:rPr lang="pt-BR" sz="1200" b="0" i="1" dirty="0">
                <a:solidFill>
                  <a:srgbClr val="FFFFFF"/>
                </a:solidFill>
                <a:latin typeface="Calibri"/>
              </a:rPr>
              <a:t>Modo 2 — Eval Suite: CI gate de configuração dos agentes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Test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API + eval-suite.yml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400" b="0" i="1" dirty="0">
                <a:solidFill>
                  <a:srgbClr val="DC2626"/>
                </a:solidFill>
                <a:latin typeface="Calibri"/>
              </a:rPr>
              <a:t>"Acionado por mudanças de configuração dos agentes — não por PRs de feature. Cobre todos os 7 agentes."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Trigger: mudança em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.github/copilot-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instructions.md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agents/*/evals/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platform-knowledge/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(NÃO por PRs de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feature ou bugfix)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eval-suite.yml dispara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para todos os 7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agentes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Roda tasks de eval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de cada agente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Graders code-based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+ model-based avaliam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4. Bloqueia merge se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pass rate &lt; threshold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Relatório por agente: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pass rate + tendência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semanal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Falhas detalhadas: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task + causa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PR liberado ou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bloqueado para merge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DC2626"/>
                </a:solidFill>
                <a:latin typeface="Calibri"/>
              </a:rPr>
              <a:t>GATE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CI automático — tech lead define threshold (padrão: 85% global, 80% por agente)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DC2626"/>
                </a:solidFill>
                <a:latin typeface="Calibri"/>
              </a:rPr>
              <a:t>O QUE MUDA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Agentes têm testes como qualquer código — regressões de configuração bloqueadas em CI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17 / 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06 — Deploy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Deploy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Code Review + Actions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400" b="0" i="1" dirty="0">
                <a:solidFill>
                  <a:srgbClr val="2563EB"/>
                </a:solidFill>
                <a:latin typeface="Calibri"/>
              </a:rPr>
              <a:t>"Revisa PRs automaticamente usando REVIEW.md como rubrica e spec.md como referência. O humano aprova — o Copilot executa."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PR diff (código)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spec.md + plan.md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REVIEW.md (rubrica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customizada por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bundle)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copilot-instructions.md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Review automático: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bugs, segurança,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conformidade com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spec.md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Verifica feature flags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e status de adapters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Reviewer humano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recebe findings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priorizados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4. Aprovação → Staging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→ release manager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→ Produção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Findings priorizados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(Important / Warning)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Decisão de aprovação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documentada no PR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Deploy Staging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(automático)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Deploy Produção</a:t>
            </a:r>
          </a:p>
          <a:p>
            <a:pPr marL="0" indent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(release manager)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2563EB"/>
                </a:solidFill>
                <a:latin typeface="Calibri"/>
              </a:rPr>
              <a:t>GATE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1 aprovação humana + CI green → Staging | Release manager → Produção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2563EB"/>
                </a:solidFill>
                <a:latin typeface="Calibri"/>
              </a:rPr>
              <a:t>O QUE MUDA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Review sistemático em &lt; 15 min — humano revisa findings, não o código linha a linha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18 / 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07 — Maintain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dirty="0">
                <a:solidFill>
                  <a:srgbClr val="FFFFFF"/>
                </a:solidFill>
                <a:latin typeface="Calibri"/>
              </a:rPr>
              <a:t>[ Monitor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780" b="0" i="1" dirty="0">
                <a:solidFill>
                  <a:srgbClr val="FFFFFF"/>
                </a:solidFill>
                <a:latin typeface="Calibri"/>
              </a:rPr>
              <a:t>Actions (cron) + Firebase MCP + Journey API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150" b="0" i="1" dirty="0">
                <a:solidFill>
                  <a:srgbClr val="0D9488"/>
                </a:solidFill>
                <a:latin typeface="Calibri"/>
              </a:rPr>
              <a:t>"Três fontes de monitoramento convergem em diagnóstico automático. Incidentes re-entram no pipeline como intent.md."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Firebase Crashlytics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via Firebase MCP: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crashes + stacktraces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desminificados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Journey Monitor API: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flows com queda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de taxa de sucesso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Cron semanal de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dívida técnica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1. Correlaciona crashes +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drops de jornada +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erros de endpoint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2. Árvore de diagnóstico: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erro de endpoint → backend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crash novo → bug técnico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commit recente → regressão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sem correlação → investigar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3. Gera intent.md se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acionável e abre PR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Relatório de diagnóstico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— Hipótese de root cause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— Correlações entre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  fontes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intent.md gerado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(pronto para o on-call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aprovar e entrar no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pipeline)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Relatório semanal de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dívida de backend</a:t>
            </a:r>
          </a:p>
        </p:txBody>
      </p:sp>
      <p:sp>
        <p:nvSpPr>
          <p:cNvPr id="21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2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0D9488"/>
                </a:solidFill>
                <a:latin typeface="Calibri"/>
              </a:rPr>
              <a:t>GATE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On-call engineer — revisa diagnóstico e decide se aprova o intent.md gerado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9657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0D9488"/>
                </a:solidFill>
                <a:latin typeface="Calibri"/>
              </a:rPr>
              <a:t>O QUE MUDA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On-call recebe hipótese estruturada, não dados brutos — e o fix entra no pipeline com rastreabilidade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19 / 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600" b="1" dirty="0">
                <a:solidFill>
                  <a:srgbClr val="FFFFFF"/>
                </a:solidFill>
                <a:latin typeface="Calibri"/>
              </a:rPr>
              <a:t>Características da esteira: </a:t>
            </a:r>
            <a:r>
              <a:rPr lang="pt-BR" sz="1600" i="1" dirty="0">
                <a:solidFill>
                  <a:srgbClr val="CBD5E1"/>
                </a:solidFill>
              </a:rPr>
              <a:t>Cada artefato serve 3 funções</a:t>
            </a:r>
            <a:endParaRPr lang="pt-BR" sz="1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200" b="0" i="1" dirty="0">
                <a:solidFill>
                  <a:srgbClr val="334155"/>
                </a:solidFill>
                <a:latin typeface="Calibri"/>
              </a:rPr>
              <a:t>"Cada artefato é ao mesmo tempo memória, gate de aprovação e rastreabilidade — não apenas entrega"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1 — Input estruturado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Contexto determinístico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para o próximo agente.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Não conversa de Slack,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não memória humana.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 agente recebe exatamente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 que está no artefato,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 cada execução.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2 — Gate de aprovação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 PR com o artefato é onde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 humano exerce julgamento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consciente e registrado.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Não aprovação implícita,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não 'vi e achei ok'.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Merge = decisão formal,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auditável e rastreável.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3 — Rastreabilidade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Qualquer linha de código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rastreia até o intent.md —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 até o card do BusinessMap.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"Por que esse código existe?"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tem resposta objetiva.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Incidentes rastreiam até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 decisão original.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Ft"/>
          <p:cNvSpPr txBox="1"/>
          <p:nvPr/>
        </p:nvSpPr>
        <p:spPr>
          <a:xfrm>
            <a:off x="114600" y="4389120"/>
            <a:ext cx="86868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pt-BR" sz="1100" b="0" i="1" dirty="0">
                <a:solidFill>
                  <a:srgbClr val="475569"/>
                </a:solidFill>
                <a:latin typeface="Calibri"/>
              </a:rPr>
              <a:t>Sem artefato, não há gate. Sem gate, não há rastreabilidade. Os 7 artefatos formam uma cadeia inquebrável de contexto e decisão.</a:t>
            </a:r>
          </a:p>
        </p:txBody>
      </p:sp>
      <p:sp>
        <p:nvSpPr>
          <p:cNvPr id="20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20 / 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600" b="1" dirty="0">
                <a:solidFill>
                  <a:srgbClr val="FFFFFF"/>
                </a:solidFill>
              </a:rPr>
              <a:t>Características da esteira: </a:t>
            </a:r>
            <a:r>
              <a:rPr lang="pt-BR" sz="1600" b="0" i="1" dirty="0">
                <a:solidFill>
                  <a:srgbClr val="CBD5E1"/>
                </a:solidFill>
                <a:latin typeface="Calibri"/>
              </a:rPr>
              <a:t>Arquitetura — 4 camadas em paralelo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200" b="0" i="1" dirty="0">
                <a:solidFill>
                  <a:srgbClr val="334155"/>
                </a:solidFill>
                <a:latin typeface="Calibri"/>
              </a:rPr>
              <a:t>"Sistemas externos existem. O pipeline SDLC os conecta. A infra de conhecimento os calibra. O monitor fecha o loop."</a:t>
            </a:r>
          </a:p>
        </p:txBody>
      </p:sp>
      <p:sp>
        <p:nvSpPr>
          <p:cNvPr id="6" name="LBg0"/>
          <p:cNvSpPr/>
          <p:nvPr/>
        </p:nvSpPr>
        <p:spPr>
          <a:xfrm>
            <a:off x="114600" y="114300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L0"/>
          <p:cNvSpPr txBox="1"/>
          <p:nvPr/>
        </p:nvSpPr>
        <p:spPr>
          <a:xfrm>
            <a:off x="114600" y="11430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b="1" dirty="0">
                <a:solidFill>
                  <a:srgbClr val="FFFFFF"/>
                </a:solidFill>
                <a:latin typeface="Calibri"/>
              </a:rPr>
              <a:t>Sistemas</a:t>
            </a:r>
          </a:p>
          <a:p>
            <a:pPr marL="0" indent="0" algn="ctr">
              <a:buNone/>
            </a:pPr>
            <a:r>
              <a:rPr lang="pt-BR" sz="1200" b="1" dirty="0">
                <a:solidFill>
                  <a:srgbClr val="FFFFFF"/>
                </a:solidFill>
                <a:latin typeface="Calibri"/>
              </a:rPr>
              <a:t>Externos</a:t>
            </a:r>
          </a:p>
        </p:txBody>
      </p:sp>
      <p:sp>
        <p:nvSpPr>
          <p:cNvPr id="8" name="DBg0"/>
          <p:cNvSpPr/>
          <p:nvPr/>
        </p:nvSpPr>
        <p:spPr>
          <a:xfrm>
            <a:off x="1257600" y="1143000"/>
            <a:ext cx="7771800" cy="6858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9" name="D0"/>
          <p:cNvSpPr txBox="1"/>
          <p:nvPr/>
        </p:nvSpPr>
        <p:spPr>
          <a:xfrm>
            <a:off x="1349040" y="1143000"/>
            <a:ext cx="7588920" cy="685800"/>
          </a:xfrm>
          <a:prstGeom prst="rect">
            <a:avLst/>
          </a:prstGeom>
          <a:noFill/>
          <a:ln/>
        </p:spPr>
        <p:txBody>
          <a:bodyPr wrap="square" lIns="0" tIns="57150" rIns="0" bIns="57150" rtlCol="0" anchor="ctr"/>
          <a:lstStyle/>
          <a:p>
            <a:pPr marL="0" indent="0">
              <a:buNone/>
            </a:pPr>
            <a:r>
              <a:rPr lang="pt-BR" sz="1250" b="0" dirty="0">
                <a:solidFill>
                  <a:srgbClr val="1E293B"/>
                </a:solidFill>
                <a:latin typeface="Calibri"/>
              </a:rPr>
              <a:t>BusinessMap MCP, Figma, GitHub, Firebase, Journey Monitor — já existem, a esteira integra sem substituir</a:t>
            </a:r>
          </a:p>
        </p:txBody>
      </p:sp>
      <p:sp>
        <p:nvSpPr>
          <p:cNvPr id="10" name="LBg1"/>
          <p:cNvSpPr/>
          <p:nvPr/>
        </p:nvSpPr>
        <p:spPr>
          <a:xfrm>
            <a:off x="114600" y="188880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1"/>
          <p:cNvSpPr txBox="1"/>
          <p:nvPr/>
        </p:nvSpPr>
        <p:spPr>
          <a:xfrm>
            <a:off x="114600" y="18888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b="1" dirty="0">
                <a:solidFill>
                  <a:srgbClr val="FFFFFF"/>
                </a:solidFill>
                <a:latin typeface="Calibri"/>
              </a:rPr>
              <a:t>Pipeline</a:t>
            </a:r>
          </a:p>
          <a:p>
            <a:pPr marL="0" indent="0" algn="ctr">
              <a:buNone/>
            </a:pPr>
            <a:r>
              <a:rPr lang="pt-BR" sz="1200" b="1" dirty="0">
                <a:solidFill>
                  <a:srgbClr val="FFFFFF"/>
                </a:solidFill>
                <a:latin typeface="Calibri"/>
              </a:rPr>
              <a:t>SDLC</a:t>
            </a:r>
          </a:p>
        </p:txBody>
      </p:sp>
      <p:sp>
        <p:nvSpPr>
          <p:cNvPr id="12" name="DBg1"/>
          <p:cNvSpPr/>
          <p:nvPr/>
        </p:nvSpPr>
        <p:spPr>
          <a:xfrm>
            <a:off x="1257600" y="1888800"/>
            <a:ext cx="7771800" cy="68580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3" name="D1"/>
          <p:cNvSpPr txBox="1"/>
          <p:nvPr/>
        </p:nvSpPr>
        <p:spPr>
          <a:xfrm>
            <a:off x="1349040" y="1888800"/>
            <a:ext cx="7588920" cy="685800"/>
          </a:xfrm>
          <a:prstGeom prst="rect">
            <a:avLst/>
          </a:prstGeom>
          <a:noFill/>
          <a:ln/>
        </p:spPr>
        <p:txBody>
          <a:bodyPr wrap="square" lIns="0" tIns="57150" rIns="0" bIns="57150" rtlCol="0" anchor="ctr"/>
          <a:lstStyle/>
          <a:p>
            <a:pPr marL="0" indent="0">
              <a:buNone/>
            </a:pPr>
            <a:r>
              <a:rPr lang="pt-BR" sz="1250" b="0" dirty="0">
                <a:solidFill>
                  <a:srgbClr val="1E293B"/>
                </a:solidFill>
                <a:latin typeface="Calibri"/>
              </a:rPr>
              <a:t>7 artefatos: intent → spec → plan → código → PR → produção — cada um com gate humano obrigatório</a:t>
            </a:r>
          </a:p>
        </p:txBody>
      </p:sp>
      <p:sp>
        <p:nvSpPr>
          <p:cNvPr id="14" name="LBg2"/>
          <p:cNvSpPr/>
          <p:nvPr/>
        </p:nvSpPr>
        <p:spPr>
          <a:xfrm>
            <a:off x="114600" y="263460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2"/>
          <p:cNvSpPr txBox="1"/>
          <p:nvPr/>
        </p:nvSpPr>
        <p:spPr>
          <a:xfrm>
            <a:off x="114600" y="26346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b="1" dirty="0">
                <a:solidFill>
                  <a:srgbClr val="FFFFFF"/>
                </a:solidFill>
                <a:latin typeface="Calibri"/>
              </a:rPr>
              <a:t>Infra de</a:t>
            </a:r>
          </a:p>
          <a:p>
            <a:pPr marL="0" indent="0" algn="ctr">
              <a:buNone/>
            </a:pPr>
            <a:r>
              <a:rPr lang="pt-BR" sz="1200" b="1" dirty="0">
                <a:solidFill>
                  <a:srgbClr val="FFFFFF"/>
                </a:solidFill>
                <a:latin typeface="Calibri"/>
              </a:rPr>
              <a:t>Conhecimento</a:t>
            </a:r>
          </a:p>
        </p:txBody>
      </p:sp>
      <p:sp>
        <p:nvSpPr>
          <p:cNvPr id="16" name="DBg2"/>
          <p:cNvSpPr/>
          <p:nvPr/>
        </p:nvSpPr>
        <p:spPr>
          <a:xfrm>
            <a:off x="1257600" y="2634600"/>
            <a:ext cx="7771800" cy="68580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7" name="D2"/>
          <p:cNvSpPr txBox="1"/>
          <p:nvPr/>
        </p:nvSpPr>
        <p:spPr>
          <a:xfrm>
            <a:off x="1349040" y="2634600"/>
            <a:ext cx="7588920" cy="685800"/>
          </a:xfrm>
          <a:prstGeom prst="rect">
            <a:avLst/>
          </a:prstGeom>
          <a:noFill/>
          <a:ln/>
        </p:spPr>
        <p:txBody>
          <a:bodyPr wrap="square" lIns="0" tIns="57150" rIns="0" bIns="57150" rtlCol="0" anchor="ctr"/>
          <a:lstStyle/>
          <a:p>
            <a:pPr marL="0" indent="0">
              <a:buNone/>
            </a:pPr>
            <a:r>
              <a:rPr lang="pt-BR" sz="1250" b="0" dirty="0">
                <a:solidFill>
                  <a:srgbClr val="1E293B"/>
                </a:solidFill>
                <a:latin typeface="Calibri"/>
              </a:rPr>
              <a:t>Skills + copilot-instructions.md — contexto determinístico injetado por estágio, testado em evals antes de entrar</a:t>
            </a:r>
          </a:p>
        </p:txBody>
      </p:sp>
      <p:sp>
        <p:nvSpPr>
          <p:cNvPr id="18" name="LBg3"/>
          <p:cNvSpPr/>
          <p:nvPr/>
        </p:nvSpPr>
        <p:spPr>
          <a:xfrm>
            <a:off x="114600" y="338040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L3"/>
          <p:cNvSpPr txBox="1"/>
          <p:nvPr/>
        </p:nvSpPr>
        <p:spPr>
          <a:xfrm>
            <a:off x="114600" y="33804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b="1" dirty="0">
                <a:solidFill>
                  <a:srgbClr val="FFFFFF"/>
                </a:solidFill>
                <a:latin typeface="Calibri"/>
              </a:rPr>
              <a:t>Monitor</a:t>
            </a:r>
          </a:p>
          <a:p>
            <a:pPr marL="0" indent="0" algn="ctr">
              <a:buNone/>
            </a:pPr>
            <a:r>
              <a:rPr lang="pt-BR" sz="1200" b="1" dirty="0">
                <a:solidFill>
                  <a:srgbClr val="FFFFFF"/>
                </a:solidFill>
                <a:latin typeface="Calibri"/>
              </a:rPr>
              <a:t>+ Loop</a:t>
            </a:r>
          </a:p>
        </p:txBody>
      </p:sp>
      <p:sp>
        <p:nvSpPr>
          <p:cNvPr id="20" name="DBg3"/>
          <p:cNvSpPr/>
          <p:nvPr/>
        </p:nvSpPr>
        <p:spPr>
          <a:xfrm>
            <a:off x="1257600" y="3380400"/>
            <a:ext cx="7771800" cy="68580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1" name="D3"/>
          <p:cNvSpPr txBox="1"/>
          <p:nvPr/>
        </p:nvSpPr>
        <p:spPr>
          <a:xfrm>
            <a:off x="1349040" y="3380400"/>
            <a:ext cx="7588920" cy="685800"/>
          </a:xfrm>
          <a:prstGeom prst="rect">
            <a:avLst/>
          </a:prstGeom>
          <a:noFill/>
          <a:ln/>
        </p:spPr>
        <p:txBody>
          <a:bodyPr wrap="square" lIns="0" tIns="57150" rIns="0" bIns="57150" rtlCol="0" anchor="ctr"/>
          <a:lstStyle/>
          <a:p>
            <a:pPr marL="0" indent="0">
              <a:buNone/>
            </a:pPr>
            <a:r>
              <a:rPr lang="pt-BR" sz="1250" b="0" dirty="0">
                <a:solidFill>
                  <a:srgbClr val="1E293B"/>
                </a:solidFill>
                <a:latin typeface="Calibri"/>
              </a:rPr>
              <a:t>Firebase + Journey Monitor → correlação → diagnóstico → intent.md de incidente (Agente 07 fecha o loop)</a:t>
            </a:r>
          </a:p>
        </p:txBody>
      </p:sp>
      <p:sp>
        <p:nvSpPr>
          <p:cNvPr id="22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3" name="Ft"/>
          <p:cNvSpPr txBox="1"/>
          <p:nvPr/>
        </p:nvSpPr>
        <p:spPr>
          <a:xfrm>
            <a:off x="114600" y="4389120"/>
            <a:ext cx="86868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pt-BR" sz="1100" b="0" i="1" dirty="0">
                <a:solidFill>
                  <a:srgbClr val="475569"/>
                </a:solidFill>
                <a:latin typeface="Calibri"/>
              </a:rPr>
              <a:t>A esteira não substitui nenhum sistema — integra e coordena o que já existe, adicionando contexto, gates e rastreabilidade.</a:t>
            </a:r>
          </a:p>
        </p:txBody>
      </p:sp>
      <p:sp>
        <p:nvSpPr>
          <p:cNvPr id="24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21 / 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600" b="1" dirty="0">
                <a:solidFill>
                  <a:srgbClr val="FFFFFF"/>
                </a:solidFill>
              </a:rPr>
              <a:t>Características da esteira: </a:t>
            </a:r>
            <a:r>
              <a:rPr lang="pt-BR" sz="1600" b="0" i="1" dirty="0">
                <a:solidFill>
                  <a:srgbClr val="CBD5E1"/>
                </a:solidFill>
                <a:latin typeface="Calibri"/>
              </a:rPr>
              <a:t>Nenhum agente aprova seu próprio output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200" b="0" i="1" dirty="0">
                <a:solidFill>
                  <a:srgbClr val="334155"/>
                </a:solidFill>
                <a:latin typeface="Calibri"/>
              </a:rPr>
              <a:t>"Gates calibrados ao risco: mais leves no início, mais rigorosos no deploy. Autonomia conquistada progressivamente."</a:t>
            </a:r>
          </a:p>
        </p:txBody>
      </p:sp>
      <p:sp>
        <p:nvSpPr>
          <p:cNvPr id="6" name="HH"/>
          <p:cNvSpPr/>
          <p:nvPr/>
        </p:nvSpPr>
        <p:spPr>
          <a:xfrm>
            <a:off x="114600" y="1143000"/>
            <a:ext cx="1143000" cy="2286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HT"/>
          <p:cNvSpPr txBox="1"/>
          <p:nvPr/>
        </p:nvSpPr>
        <p:spPr>
          <a:xfrm>
            <a:off x="114600" y="11430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dirty="0">
                <a:solidFill>
                  <a:srgbClr val="FFFFFF"/>
                </a:solidFill>
                <a:latin typeface="Calibri"/>
              </a:rPr>
              <a:t>GATE</a:t>
            </a:r>
          </a:p>
        </p:txBody>
      </p:sp>
      <p:sp>
        <p:nvSpPr>
          <p:cNvPr id="8" name="HH"/>
          <p:cNvSpPr/>
          <p:nvPr/>
        </p:nvSpPr>
        <p:spPr>
          <a:xfrm>
            <a:off x="1314750" y="1143000"/>
            <a:ext cx="2057400" cy="2286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9" name="HT"/>
          <p:cNvSpPr txBox="1"/>
          <p:nvPr/>
        </p:nvSpPr>
        <p:spPr>
          <a:xfrm>
            <a:off x="1314750" y="11430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dirty="0">
                <a:solidFill>
                  <a:srgbClr val="FFFFFF"/>
                </a:solidFill>
                <a:latin typeface="Calibri"/>
              </a:rPr>
              <a:t>QUEM APROVA</a:t>
            </a:r>
          </a:p>
        </p:txBody>
      </p:sp>
      <p:sp>
        <p:nvSpPr>
          <p:cNvPr id="10" name="HH"/>
          <p:cNvSpPr/>
          <p:nvPr/>
        </p:nvSpPr>
        <p:spPr>
          <a:xfrm>
            <a:off x="3429300" y="1143000"/>
            <a:ext cx="2057400" cy="2286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HT"/>
          <p:cNvSpPr txBox="1"/>
          <p:nvPr/>
        </p:nvSpPr>
        <p:spPr>
          <a:xfrm>
            <a:off x="3429300" y="11430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dirty="0">
                <a:solidFill>
                  <a:srgbClr val="FFFFFF"/>
                </a:solidFill>
                <a:latin typeface="Calibri"/>
              </a:rPr>
              <a:t>MECANISMO</a:t>
            </a:r>
          </a:p>
        </p:txBody>
      </p:sp>
      <p:sp>
        <p:nvSpPr>
          <p:cNvPr id="12" name="HH"/>
          <p:cNvSpPr/>
          <p:nvPr/>
        </p:nvSpPr>
        <p:spPr>
          <a:xfrm>
            <a:off x="5543850" y="1143000"/>
            <a:ext cx="3572400" cy="2286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3" name="HT"/>
          <p:cNvSpPr txBox="1"/>
          <p:nvPr/>
        </p:nvSpPr>
        <p:spPr>
          <a:xfrm>
            <a:off x="5543850" y="1143000"/>
            <a:ext cx="35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dirty="0">
                <a:solidFill>
                  <a:srgbClr val="FFFFFF"/>
                </a:solidFill>
                <a:latin typeface="Calibri"/>
              </a:rPr>
              <a:t>O QUE VERIFICA</a:t>
            </a:r>
          </a:p>
        </p:txBody>
      </p:sp>
      <p:sp>
        <p:nvSpPr>
          <p:cNvPr id="14" name="RC"/>
          <p:cNvSpPr/>
          <p:nvPr/>
        </p:nvSpPr>
        <p:spPr>
          <a:xfrm>
            <a:off x="114600" y="1371600"/>
            <a:ext cx="1143000" cy="342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RT"/>
          <p:cNvSpPr txBox="1"/>
          <p:nvPr/>
        </p:nvSpPr>
        <p:spPr>
          <a:xfrm>
            <a:off x="171750" y="1371600"/>
            <a:ext cx="10287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dirty="0">
                <a:solidFill>
                  <a:srgbClr val="D97706"/>
                </a:solidFill>
                <a:latin typeface="Calibri"/>
              </a:rPr>
              <a:t>intent.md</a:t>
            </a:r>
          </a:p>
        </p:txBody>
      </p:sp>
      <p:sp>
        <p:nvSpPr>
          <p:cNvPr id="16" name="RC"/>
          <p:cNvSpPr/>
          <p:nvPr/>
        </p:nvSpPr>
        <p:spPr>
          <a:xfrm>
            <a:off x="1314750" y="1371600"/>
            <a:ext cx="2057400" cy="342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7" name="RT"/>
          <p:cNvSpPr txBox="1"/>
          <p:nvPr/>
        </p:nvSpPr>
        <p:spPr>
          <a:xfrm>
            <a:off x="1371900" y="1371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Área negocial</a:t>
            </a:r>
          </a:p>
        </p:txBody>
      </p:sp>
      <p:sp>
        <p:nvSpPr>
          <p:cNvPr id="18" name="RC"/>
          <p:cNvSpPr/>
          <p:nvPr/>
        </p:nvSpPr>
        <p:spPr>
          <a:xfrm>
            <a:off x="3429300" y="1371600"/>
            <a:ext cx="2057400" cy="342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RT"/>
          <p:cNvSpPr txBox="1"/>
          <p:nvPr/>
        </p:nvSpPr>
        <p:spPr>
          <a:xfrm>
            <a:off x="3486450" y="1371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Processo externo</a:t>
            </a:r>
          </a:p>
        </p:txBody>
      </p:sp>
      <p:sp>
        <p:nvSpPr>
          <p:cNvPr id="20" name="RC"/>
          <p:cNvSpPr/>
          <p:nvPr/>
        </p:nvSpPr>
        <p:spPr>
          <a:xfrm>
            <a:off x="5543850" y="1371600"/>
            <a:ext cx="3572400" cy="342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1" name="RT"/>
          <p:cNvSpPr txBox="1"/>
          <p:nvPr/>
        </p:nvSpPr>
        <p:spPr>
          <a:xfrm>
            <a:off x="5601000" y="1371600"/>
            <a:ext cx="3458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Problema certo? Prioridade?</a:t>
            </a:r>
          </a:p>
        </p:txBody>
      </p:sp>
      <p:sp>
        <p:nvSpPr>
          <p:cNvPr id="22" name="RC"/>
          <p:cNvSpPr/>
          <p:nvPr/>
        </p:nvSpPr>
        <p:spPr>
          <a:xfrm>
            <a:off x="114600" y="1713600"/>
            <a:ext cx="1143000" cy="342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3" name="RT"/>
          <p:cNvSpPr txBox="1"/>
          <p:nvPr/>
        </p:nvSpPr>
        <p:spPr>
          <a:xfrm>
            <a:off x="171750" y="1713600"/>
            <a:ext cx="10287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dirty="0">
                <a:solidFill>
                  <a:srgbClr val="7C3AED"/>
                </a:solidFill>
                <a:latin typeface="Calibri"/>
              </a:rPr>
              <a:t>spec.md</a:t>
            </a:r>
          </a:p>
        </p:txBody>
      </p:sp>
      <p:sp>
        <p:nvSpPr>
          <p:cNvPr id="24" name="RC"/>
          <p:cNvSpPr/>
          <p:nvPr/>
        </p:nvSpPr>
        <p:spPr>
          <a:xfrm>
            <a:off x="1314750" y="1713600"/>
            <a:ext cx="2057400" cy="3420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5" name="RT"/>
          <p:cNvSpPr txBox="1"/>
          <p:nvPr/>
        </p:nvSpPr>
        <p:spPr>
          <a:xfrm>
            <a:off x="1371900" y="1713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PO + policy owners</a:t>
            </a:r>
          </a:p>
        </p:txBody>
      </p:sp>
      <p:sp>
        <p:nvSpPr>
          <p:cNvPr id="26" name="RC"/>
          <p:cNvSpPr/>
          <p:nvPr/>
        </p:nvSpPr>
        <p:spPr>
          <a:xfrm>
            <a:off x="3429300" y="1713600"/>
            <a:ext cx="2057400" cy="3420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7" name="RT"/>
          <p:cNvSpPr txBox="1"/>
          <p:nvPr/>
        </p:nvSpPr>
        <p:spPr>
          <a:xfrm>
            <a:off x="3486450" y="1713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Merge após flags resolvidas</a:t>
            </a:r>
          </a:p>
        </p:txBody>
      </p:sp>
      <p:sp>
        <p:nvSpPr>
          <p:cNvPr id="28" name="RC"/>
          <p:cNvSpPr/>
          <p:nvPr/>
        </p:nvSpPr>
        <p:spPr>
          <a:xfrm>
            <a:off x="5543850" y="1713600"/>
            <a:ext cx="3572400" cy="3420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9" name="RT"/>
          <p:cNvSpPr txBox="1"/>
          <p:nvPr/>
        </p:nvSpPr>
        <p:spPr>
          <a:xfrm>
            <a:off x="5601000" y="1713600"/>
            <a:ext cx="3458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Requisitos? Compliance?</a:t>
            </a:r>
          </a:p>
        </p:txBody>
      </p:sp>
      <p:sp>
        <p:nvSpPr>
          <p:cNvPr id="30" name="RC"/>
          <p:cNvSpPr/>
          <p:nvPr/>
        </p:nvSpPr>
        <p:spPr>
          <a:xfrm>
            <a:off x="114600" y="2055600"/>
            <a:ext cx="1143000" cy="342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1" name="RT"/>
          <p:cNvSpPr txBox="1"/>
          <p:nvPr/>
        </p:nvSpPr>
        <p:spPr>
          <a:xfrm>
            <a:off x="171750" y="2055600"/>
            <a:ext cx="10287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dirty="0">
                <a:solidFill>
                  <a:srgbClr val="0891B2"/>
                </a:solidFill>
                <a:latin typeface="Calibri"/>
              </a:rPr>
              <a:t>plan.md</a:t>
            </a:r>
          </a:p>
        </p:txBody>
      </p:sp>
      <p:sp>
        <p:nvSpPr>
          <p:cNvPr id="32" name="RC"/>
          <p:cNvSpPr/>
          <p:nvPr/>
        </p:nvSpPr>
        <p:spPr>
          <a:xfrm>
            <a:off x="1314750" y="2055600"/>
            <a:ext cx="2057400" cy="342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3" name="RT"/>
          <p:cNvSpPr txBox="1"/>
          <p:nvPr/>
        </p:nvSpPr>
        <p:spPr>
          <a:xfrm>
            <a:off x="1371900" y="2055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Engenheiro</a:t>
            </a:r>
          </a:p>
        </p:txBody>
      </p:sp>
      <p:sp>
        <p:nvSpPr>
          <p:cNvPr id="34" name="RC"/>
          <p:cNvSpPr/>
          <p:nvPr/>
        </p:nvSpPr>
        <p:spPr>
          <a:xfrm>
            <a:off x="3429300" y="2055600"/>
            <a:ext cx="2057400" cy="342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5" name="RT"/>
          <p:cNvSpPr txBox="1"/>
          <p:nvPr/>
        </p:nvSpPr>
        <p:spPr>
          <a:xfrm>
            <a:off x="3486450" y="2055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Commit explícito</a:t>
            </a:r>
          </a:p>
        </p:txBody>
      </p:sp>
      <p:sp>
        <p:nvSpPr>
          <p:cNvPr id="36" name="RC"/>
          <p:cNvSpPr/>
          <p:nvPr/>
        </p:nvSpPr>
        <p:spPr>
          <a:xfrm>
            <a:off x="5543850" y="2055600"/>
            <a:ext cx="3572400" cy="342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7" name="RT"/>
          <p:cNvSpPr txBox="1"/>
          <p:nvPr/>
        </p:nvSpPr>
        <p:spPr>
          <a:xfrm>
            <a:off x="5601000" y="2055600"/>
            <a:ext cx="3458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Estratégia viável? Riscos?</a:t>
            </a:r>
          </a:p>
        </p:txBody>
      </p:sp>
      <p:sp>
        <p:nvSpPr>
          <p:cNvPr id="38" name="RC"/>
          <p:cNvSpPr/>
          <p:nvPr/>
        </p:nvSpPr>
        <p:spPr>
          <a:xfrm>
            <a:off x="114600" y="2397600"/>
            <a:ext cx="1143000" cy="342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9" name="RT"/>
          <p:cNvSpPr txBox="1"/>
          <p:nvPr/>
        </p:nvSpPr>
        <p:spPr>
          <a:xfrm>
            <a:off x="171750" y="2397600"/>
            <a:ext cx="10287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dirty="0">
                <a:solidFill>
                  <a:srgbClr val="059669"/>
                </a:solidFill>
                <a:latin typeface="Calibri"/>
              </a:rPr>
              <a:t>Código</a:t>
            </a:r>
          </a:p>
        </p:txBody>
      </p:sp>
      <p:sp>
        <p:nvSpPr>
          <p:cNvPr id="40" name="RC"/>
          <p:cNvSpPr/>
          <p:nvPr/>
        </p:nvSpPr>
        <p:spPr>
          <a:xfrm>
            <a:off x="1314750" y="2397600"/>
            <a:ext cx="2057400" cy="3420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41" name="RT"/>
          <p:cNvSpPr txBox="1"/>
          <p:nvPr/>
        </p:nvSpPr>
        <p:spPr>
          <a:xfrm>
            <a:off x="1371900" y="2397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CI (automático)</a:t>
            </a:r>
          </a:p>
        </p:txBody>
      </p:sp>
      <p:sp>
        <p:nvSpPr>
          <p:cNvPr id="42" name="RC"/>
          <p:cNvSpPr/>
          <p:nvPr/>
        </p:nvSpPr>
        <p:spPr>
          <a:xfrm>
            <a:off x="3429300" y="2397600"/>
            <a:ext cx="2057400" cy="3420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43" name="RT"/>
          <p:cNvSpPr txBox="1"/>
          <p:nvPr/>
        </p:nvSpPr>
        <p:spPr>
          <a:xfrm>
            <a:off x="3486450" y="2397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npm test + lint + evals</a:t>
            </a:r>
          </a:p>
        </p:txBody>
      </p:sp>
      <p:sp>
        <p:nvSpPr>
          <p:cNvPr id="44" name="RC"/>
          <p:cNvSpPr/>
          <p:nvPr/>
        </p:nvSpPr>
        <p:spPr>
          <a:xfrm>
            <a:off x="5543850" y="2397600"/>
            <a:ext cx="3572400" cy="3420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45" name="RT"/>
          <p:cNvSpPr txBox="1"/>
          <p:nvPr/>
        </p:nvSpPr>
        <p:spPr>
          <a:xfrm>
            <a:off x="5601000" y="2397600"/>
            <a:ext cx="3458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Testes, padrões, evals</a:t>
            </a:r>
          </a:p>
        </p:txBody>
      </p:sp>
      <p:sp>
        <p:nvSpPr>
          <p:cNvPr id="46" name="RC"/>
          <p:cNvSpPr/>
          <p:nvPr/>
        </p:nvSpPr>
        <p:spPr>
          <a:xfrm>
            <a:off x="114600" y="2739600"/>
            <a:ext cx="1143000" cy="342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47" name="RT"/>
          <p:cNvSpPr txBox="1"/>
          <p:nvPr/>
        </p:nvSpPr>
        <p:spPr>
          <a:xfrm>
            <a:off x="171750" y="2739600"/>
            <a:ext cx="10287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dirty="0">
                <a:solidFill>
                  <a:srgbClr val="2563EB"/>
                </a:solidFill>
                <a:latin typeface="Calibri"/>
              </a:rPr>
              <a:t>PR</a:t>
            </a:r>
          </a:p>
        </p:txBody>
      </p:sp>
      <p:sp>
        <p:nvSpPr>
          <p:cNvPr id="48" name="RC"/>
          <p:cNvSpPr/>
          <p:nvPr/>
        </p:nvSpPr>
        <p:spPr>
          <a:xfrm>
            <a:off x="1314750" y="2739600"/>
            <a:ext cx="2057400" cy="342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49" name="RT"/>
          <p:cNvSpPr txBox="1"/>
          <p:nvPr/>
        </p:nvSpPr>
        <p:spPr>
          <a:xfrm>
            <a:off x="1371900" y="2739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Copilot + 1 humano</a:t>
            </a:r>
          </a:p>
        </p:txBody>
      </p:sp>
      <p:sp>
        <p:nvSpPr>
          <p:cNvPr id="50" name="RC"/>
          <p:cNvSpPr/>
          <p:nvPr/>
        </p:nvSpPr>
        <p:spPr>
          <a:xfrm>
            <a:off x="3429300" y="2739600"/>
            <a:ext cx="2057400" cy="342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1" name="RT"/>
          <p:cNvSpPr txBox="1"/>
          <p:nvPr/>
        </p:nvSpPr>
        <p:spPr>
          <a:xfrm>
            <a:off x="3486450" y="2739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Aprovação no GitHub</a:t>
            </a:r>
          </a:p>
        </p:txBody>
      </p:sp>
      <p:sp>
        <p:nvSpPr>
          <p:cNvPr id="52" name="RC"/>
          <p:cNvSpPr/>
          <p:nvPr/>
        </p:nvSpPr>
        <p:spPr>
          <a:xfrm>
            <a:off x="5543850" y="2739600"/>
            <a:ext cx="3572400" cy="342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3" name="RT"/>
          <p:cNvSpPr txBox="1"/>
          <p:nvPr/>
        </p:nvSpPr>
        <p:spPr>
          <a:xfrm>
            <a:off x="5601000" y="2739600"/>
            <a:ext cx="3458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Findings? Contexto negocial?</a:t>
            </a:r>
          </a:p>
        </p:txBody>
      </p:sp>
      <p:sp>
        <p:nvSpPr>
          <p:cNvPr id="54" name="RC"/>
          <p:cNvSpPr/>
          <p:nvPr/>
        </p:nvSpPr>
        <p:spPr>
          <a:xfrm>
            <a:off x="114600" y="3081600"/>
            <a:ext cx="1143000" cy="342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5" name="RT"/>
          <p:cNvSpPr txBox="1"/>
          <p:nvPr/>
        </p:nvSpPr>
        <p:spPr>
          <a:xfrm>
            <a:off x="171750" y="3081600"/>
            <a:ext cx="10287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dirty="0">
                <a:solidFill>
                  <a:srgbClr val="DC2626"/>
                </a:solidFill>
                <a:latin typeface="Calibri"/>
              </a:rPr>
              <a:t>Deploy prod</a:t>
            </a:r>
          </a:p>
        </p:txBody>
      </p:sp>
      <p:sp>
        <p:nvSpPr>
          <p:cNvPr id="56" name="RC"/>
          <p:cNvSpPr/>
          <p:nvPr/>
        </p:nvSpPr>
        <p:spPr>
          <a:xfrm>
            <a:off x="1314750" y="3081600"/>
            <a:ext cx="2057400" cy="3420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7" name="RT"/>
          <p:cNvSpPr txBox="1"/>
          <p:nvPr/>
        </p:nvSpPr>
        <p:spPr>
          <a:xfrm>
            <a:off x="1371900" y="3081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Release manager</a:t>
            </a:r>
          </a:p>
        </p:txBody>
      </p:sp>
      <p:sp>
        <p:nvSpPr>
          <p:cNvPr id="58" name="RC"/>
          <p:cNvSpPr/>
          <p:nvPr/>
        </p:nvSpPr>
        <p:spPr>
          <a:xfrm>
            <a:off x="3429300" y="3081600"/>
            <a:ext cx="2057400" cy="3420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9" name="RT"/>
          <p:cNvSpPr txBox="1"/>
          <p:nvPr/>
        </p:nvSpPr>
        <p:spPr>
          <a:xfrm>
            <a:off x="3486450" y="3081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Environment protection</a:t>
            </a:r>
          </a:p>
        </p:txBody>
      </p:sp>
      <p:sp>
        <p:nvSpPr>
          <p:cNvPr id="60" name="RC"/>
          <p:cNvSpPr/>
          <p:nvPr/>
        </p:nvSpPr>
        <p:spPr>
          <a:xfrm>
            <a:off x="5543850" y="3081600"/>
            <a:ext cx="3572400" cy="3420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1" name="RT"/>
          <p:cNvSpPr txBox="1"/>
          <p:nvPr/>
        </p:nvSpPr>
        <p:spPr>
          <a:xfrm>
            <a:off x="5601000" y="3081600"/>
            <a:ext cx="3458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Timing? Rollback?</a:t>
            </a:r>
          </a:p>
        </p:txBody>
      </p:sp>
      <p:sp>
        <p:nvSpPr>
          <p:cNvPr id="62" name="RC"/>
          <p:cNvSpPr/>
          <p:nvPr/>
        </p:nvSpPr>
        <p:spPr>
          <a:xfrm>
            <a:off x="114600" y="3423600"/>
            <a:ext cx="1143000" cy="342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3" name="RT"/>
          <p:cNvSpPr txBox="1"/>
          <p:nvPr/>
        </p:nvSpPr>
        <p:spPr>
          <a:xfrm>
            <a:off x="171750" y="3423600"/>
            <a:ext cx="10287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dirty="0">
                <a:solidFill>
                  <a:srgbClr val="0D9488"/>
                </a:solidFill>
                <a:latin typeface="Calibri"/>
              </a:rPr>
              <a:t>Incidente</a:t>
            </a:r>
          </a:p>
        </p:txBody>
      </p:sp>
      <p:sp>
        <p:nvSpPr>
          <p:cNvPr id="64" name="RC"/>
          <p:cNvSpPr/>
          <p:nvPr/>
        </p:nvSpPr>
        <p:spPr>
          <a:xfrm>
            <a:off x="1314750" y="3423600"/>
            <a:ext cx="2057400" cy="342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5" name="RT"/>
          <p:cNvSpPr txBox="1"/>
          <p:nvPr/>
        </p:nvSpPr>
        <p:spPr>
          <a:xfrm>
            <a:off x="1371900" y="3423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On-call</a:t>
            </a:r>
          </a:p>
        </p:txBody>
      </p:sp>
      <p:sp>
        <p:nvSpPr>
          <p:cNvPr id="66" name="RC"/>
          <p:cNvSpPr/>
          <p:nvPr/>
        </p:nvSpPr>
        <p:spPr>
          <a:xfrm>
            <a:off x="3429300" y="3423600"/>
            <a:ext cx="2057400" cy="342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7" name="RT"/>
          <p:cNvSpPr txBox="1"/>
          <p:nvPr/>
        </p:nvSpPr>
        <p:spPr>
          <a:xfrm>
            <a:off x="3486450" y="3423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Triagem do intent.md</a:t>
            </a:r>
          </a:p>
        </p:txBody>
      </p:sp>
      <p:sp>
        <p:nvSpPr>
          <p:cNvPr id="68" name="RC"/>
          <p:cNvSpPr/>
          <p:nvPr/>
        </p:nvSpPr>
        <p:spPr>
          <a:xfrm>
            <a:off x="5543850" y="3423600"/>
            <a:ext cx="3572400" cy="342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69" name="RT"/>
          <p:cNvSpPr txBox="1"/>
          <p:nvPr/>
        </p:nvSpPr>
        <p:spPr>
          <a:xfrm>
            <a:off x="5601000" y="3423600"/>
            <a:ext cx="3458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Root cause? Prioridade?</a:t>
            </a:r>
          </a:p>
        </p:txBody>
      </p:sp>
      <p:sp>
        <p:nvSpPr>
          <p:cNvPr id="70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1" name="Ft"/>
          <p:cNvSpPr txBox="1"/>
          <p:nvPr/>
        </p:nvSpPr>
        <p:spPr>
          <a:xfrm>
            <a:off x="114600" y="4389120"/>
            <a:ext cx="86868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pt-BR" sz="1100" b="0" i="1" dirty="0">
                <a:solidFill>
                  <a:srgbClr val="475569"/>
                </a:solidFill>
                <a:latin typeface="Calibri"/>
              </a:rPr>
              <a:t>Autonomia não é ausência de humanos — é humanos focados onde seu julgamento é insubstituível.</a:t>
            </a:r>
          </a:p>
        </p:txBody>
      </p:sp>
      <p:sp>
        <p:nvSpPr>
          <p:cNvPr id="7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22 / 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600" b="1" dirty="0">
                <a:solidFill>
                  <a:srgbClr val="FFFFFF"/>
                </a:solidFill>
              </a:rPr>
              <a:t>Características da esteira: </a:t>
            </a:r>
            <a:r>
              <a:rPr lang="pt-BR" sz="1600" b="0" i="1" dirty="0" err="1">
                <a:solidFill>
                  <a:srgbClr val="CBD5E1"/>
                </a:solidFill>
                <a:latin typeface="Calibri"/>
              </a:rPr>
              <a:t>Evals</a:t>
            </a:r>
            <a:r>
              <a:rPr lang="pt-BR" sz="1600" b="0" i="1" dirty="0">
                <a:solidFill>
                  <a:srgbClr val="CBD5E1"/>
                </a:solidFill>
                <a:latin typeface="Calibri"/>
              </a:rPr>
              <a:t> — testes para configuração de agentes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200" b="0" i="1" dirty="0">
                <a:solidFill>
                  <a:srgbClr val="334155"/>
                </a:solidFill>
                <a:latin typeface="Calibri"/>
              </a:rPr>
              <a:t>"Mudanças em skills/</a:t>
            </a:r>
            <a:r>
              <a:rPr lang="pt-BR" sz="1200" b="0" i="1" dirty="0" err="1">
                <a:solidFill>
                  <a:srgbClr val="334155"/>
                </a:solidFill>
                <a:latin typeface="Calibri"/>
              </a:rPr>
              <a:t>agents</a:t>
            </a:r>
            <a:r>
              <a:rPr lang="pt-BR" sz="1200" b="0" i="1" dirty="0">
                <a:solidFill>
                  <a:srgbClr val="334155"/>
                </a:solidFill>
                <a:latin typeface="Calibri"/>
              </a:rPr>
              <a:t> são deploy no escuro — sem </a:t>
            </a:r>
            <a:r>
              <a:rPr lang="pt-BR" sz="1200" b="0" i="1" dirty="0" err="1">
                <a:solidFill>
                  <a:srgbClr val="334155"/>
                </a:solidFill>
                <a:latin typeface="Calibri"/>
              </a:rPr>
              <a:t>evals</a:t>
            </a:r>
            <a:r>
              <a:rPr lang="pt-BR" sz="1200" b="0" i="1" dirty="0">
                <a:solidFill>
                  <a:srgbClr val="334155"/>
                </a:solidFill>
                <a:latin typeface="Calibri"/>
              </a:rPr>
              <a:t>"</a:t>
            </a:r>
          </a:p>
        </p:txBody>
      </p:sp>
      <p:sp>
        <p:nvSpPr>
          <p:cNvPr id="6" name="LBg"/>
          <p:cNvSpPr/>
          <p:nvPr/>
        </p:nvSpPr>
        <p:spPr>
          <a:xfrm>
            <a:off x="114600" y="1143000"/>
            <a:ext cx="48573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LLbl"/>
          <p:cNvSpPr/>
          <p:nvPr/>
        </p:nvSpPr>
        <p:spPr>
          <a:xfrm>
            <a:off x="114600" y="1143000"/>
            <a:ext cx="4857300" cy="27432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LLblT"/>
          <p:cNvSpPr txBox="1"/>
          <p:nvPr/>
        </p:nvSpPr>
        <p:spPr>
          <a:xfrm>
            <a:off x="114600" y="1143000"/>
            <a:ext cx="48573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COMO FUNCIONAM</a:t>
            </a:r>
          </a:p>
        </p:txBody>
      </p:sp>
      <p:sp>
        <p:nvSpPr>
          <p:cNvPr id="9" name="LPts"/>
          <p:cNvSpPr txBox="1"/>
          <p:nvPr/>
        </p:nvSpPr>
        <p:spPr>
          <a:xfrm>
            <a:off x="114600" y="1333014"/>
            <a:ext cx="4857300" cy="292608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pt-BR" sz="1250" b="1" dirty="0">
                <a:solidFill>
                  <a:srgbClr val="334155"/>
                </a:solidFill>
                <a:latin typeface="Calibri"/>
              </a:rPr>
              <a:t>• 20-50 tasks por agente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  baseadas em casos reais do projeto</a:t>
            </a:r>
          </a:p>
          <a:p>
            <a:pPr marL="0" indent="0">
              <a:buNone/>
            </a:pPr>
            <a:endParaRPr lang="pt-BR" sz="115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50" b="1" dirty="0">
                <a:solidFill>
                  <a:srgbClr val="334155"/>
                </a:solidFill>
                <a:latin typeface="Calibri"/>
              </a:rPr>
              <a:t>• CI roda automaticamente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  quando skill, instrução ou config muda</a:t>
            </a:r>
          </a:p>
          <a:p>
            <a:pPr marL="0" indent="0">
              <a:buNone/>
            </a:pPr>
            <a:endParaRPr lang="pt-BR" sz="115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50" b="1" dirty="0">
                <a:solidFill>
                  <a:srgbClr val="334155"/>
                </a:solidFill>
                <a:latin typeface="Calibri"/>
              </a:rPr>
              <a:t>• Incidentes de produção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  viram evals permanentes — não se repetem</a:t>
            </a:r>
          </a:p>
          <a:p>
            <a:pPr marL="0" indent="0">
              <a:buNone/>
            </a:pPr>
            <a:endParaRPr lang="pt-BR" sz="115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50" b="1" dirty="0">
                <a:solidFill>
                  <a:srgbClr val="334155"/>
                </a:solidFill>
                <a:latin typeface="Calibri"/>
              </a:rPr>
              <a:t>• Code-based + Model-based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  schema/regex + rubrica semântica de qualidade</a:t>
            </a:r>
          </a:p>
        </p:txBody>
      </p:sp>
      <p:sp>
        <p:nvSpPr>
          <p:cNvPr id="10" name="RBg"/>
          <p:cNvSpPr/>
          <p:nvPr/>
        </p:nvSpPr>
        <p:spPr>
          <a:xfrm>
            <a:off x="5086500" y="1143000"/>
            <a:ext cx="39429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RLbl"/>
          <p:cNvSpPr/>
          <p:nvPr/>
        </p:nvSpPr>
        <p:spPr>
          <a:xfrm>
            <a:off x="5086500" y="1143000"/>
            <a:ext cx="3942900" cy="27432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2" name="RLblT"/>
          <p:cNvSpPr txBox="1"/>
          <p:nvPr/>
        </p:nvSpPr>
        <p:spPr>
          <a:xfrm>
            <a:off x="5086500" y="1143000"/>
            <a:ext cx="3942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ESTRUTURA DE UMA EVAL</a:t>
            </a:r>
          </a:p>
        </p:txBody>
      </p:sp>
      <p:sp>
        <p:nvSpPr>
          <p:cNvPr id="13" name="Tree"/>
          <p:cNvSpPr txBox="1"/>
          <p:nvPr/>
        </p:nvSpPr>
        <p:spPr>
          <a:xfrm>
            <a:off x="5086500" y="1417320"/>
            <a:ext cx="3942900" cy="12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task-001-onboarding/</a:t>
            </a:r>
          </a:p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input/</a:t>
            </a:r>
          </a:p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  intent.md + context</a:t>
            </a:r>
          </a:p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expected/</a:t>
            </a:r>
          </a:p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  spec.md + flags.json</a:t>
            </a:r>
          </a:p>
        </p:txBody>
      </p:sp>
      <p:sp>
        <p:nvSpPr>
          <p:cNvPr id="14" name="BadgeBg"/>
          <p:cNvSpPr/>
          <p:nvPr/>
        </p:nvSpPr>
        <p:spPr>
          <a:xfrm>
            <a:off x="5086500" y="2708760"/>
            <a:ext cx="3942900" cy="17000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BadgeNum"/>
          <p:cNvSpPr txBox="1"/>
          <p:nvPr/>
        </p:nvSpPr>
        <p:spPr>
          <a:xfrm>
            <a:off x="5086500" y="2708760"/>
            <a:ext cx="39429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5000" b="1" dirty="0">
                <a:solidFill>
                  <a:srgbClr val="2563EB"/>
                </a:solidFill>
                <a:latin typeface="Calibri"/>
              </a:rPr>
              <a:t>85%</a:t>
            </a:r>
          </a:p>
        </p:txBody>
      </p:sp>
      <p:sp>
        <p:nvSpPr>
          <p:cNvPr id="16" name="BadgeLbl"/>
          <p:cNvSpPr txBox="1"/>
          <p:nvPr/>
        </p:nvSpPr>
        <p:spPr>
          <a:xfrm>
            <a:off x="5086500" y="3508760"/>
            <a:ext cx="3942900" cy="900000"/>
          </a:xfrm>
          <a:prstGeom prst="rect">
            <a:avLst/>
          </a:prstGeom>
          <a:noFill/>
          <a:ln/>
        </p:spPr>
        <p:txBody>
          <a:bodyPr wrap="square" lIns="0" tIns="57150" rIns="0" bIns="57150" rtlCol="0" anchor="ctr"/>
          <a:lstStyle/>
          <a:p>
            <a:pPr marL="0" indent="0" algn="ctr">
              <a:buNone/>
            </a:pPr>
            <a:r>
              <a:rPr lang="pt-BR" sz="1150" b="1" dirty="0">
                <a:solidFill>
                  <a:srgbClr val="334155"/>
                </a:solidFill>
                <a:latin typeface="Calibri"/>
              </a:rPr>
              <a:t>pass rate mínimo</a:t>
            </a:r>
          </a:p>
          <a:p>
            <a:pPr marL="0" indent="0" algn="ctr">
              <a:buNone/>
            </a:pPr>
            <a:r>
              <a:rPr lang="pt-BR" sz="1050" b="0" i="1" dirty="0">
                <a:solidFill>
                  <a:srgbClr val="475569"/>
                </a:solidFill>
                <a:latin typeface="Calibri"/>
              </a:rPr>
              <a:t>Abaixo disso o merge é bloqueado.</a:t>
            </a:r>
          </a:p>
          <a:p>
            <a:pPr marL="0" indent="0" algn="ctr">
              <a:buNone/>
            </a:pPr>
            <a:r>
              <a:rPr lang="pt-BR" sz="1000" b="0" i="1" dirty="0">
                <a:solidFill>
                  <a:srgbClr val="94A3B8"/>
                </a:solidFill>
                <a:latin typeface="Calibri"/>
              </a:rPr>
              <a:t>Threshold definido pelo tech lead.</a:t>
            </a:r>
          </a:p>
        </p:txBody>
      </p:sp>
      <p:sp>
        <p:nvSpPr>
          <p:cNvPr id="17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8" name="Ft"/>
          <p:cNvSpPr txBox="1"/>
          <p:nvPr/>
        </p:nvSpPr>
        <p:spPr>
          <a:xfrm>
            <a:off x="114600" y="4389120"/>
            <a:ext cx="86868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pt-BR" sz="1100" b="0" i="1" dirty="0">
                <a:solidFill>
                  <a:srgbClr val="475569"/>
                </a:solidFill>
                <a:latin typeface="Calibri"/>
              </a:rPr>
              <a:t>Evals são o contrato de qualidade dos agentes — reduzir o threshold exige decisão consciente, não confiança cega.</a:t>
            </a:r>
          </a:p>
        </p:txBody>
      </p:sp>
      <p:sp>
        <p:nvSpPr>
          <p:cNvPr id="19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23 / 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600" b="1" dirty="0">
                <a:solidFill>
                  <a:srgbClr val="FFFFFF"/>
                </a:solidFill>
              </a:rPr>
              <a:t>Características da esteira: </a:t>
            </a:r>
            <a:r>
              <a:rPr lang="pt-BR" sz="1600" b="0" i="1" dirty="0">
                <a:solidFill>
                  <a:srgbClr val="CBD5E1"/>
                </a:solidFill>
                <a:latin typeface="Calibri"/>
              </a:rPr>
              <a:t>Como medimos o sucesso da esteira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200" b="0" i="1" dirty="0">
                <a:solidFill>
                  <a:srgbClr val="334155"/>
                </a:solidFill>
                <a:latin typeface="Calibri"/>
              </a:rPr>
              <a:t>"Leading: saúde em tempo real — Lagging: impacto real no processo"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LEADING — POR AGENTE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Intent: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Schema válido &gt; 95%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&lt; 2 iterações por PR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Spec: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Tempo intent→spec &lt; 1 dia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20–40% com flags 🔴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Plan: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Gerado em &lt; 2h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Build: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CI first-pass &gt; 80%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Deploy: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1.º review auto &lt; 15 min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Maintain: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Detecção → intent P95 &lt; 30 min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LAGGING — PROCESSO GERAL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Intents revisados pós-spec &lt; 10%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Rework pós-build &lt; 10%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Divergência plan/diff &lt; 20%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Bugs BBDS em prod &lt; 2% das issues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Regressões em CI &gt; 90%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vs. produção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Repeat incidents -50%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em 6 meses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DORA / PROCESSO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Deploy Frequency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Lead Time for Changes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Change Failure Rate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Time to Restore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Evals: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Pass rate global ≥ 85%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Pass rate por agente ≥ 80%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Revisão quinzenal dos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KPIs com o tech lead —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ajuste de thresholds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quando necessário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334155"/>
                </a:solidFill>
                <a:latin typeface="Calibri"/>
              </a:rPr>
              <a:t>COLETA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KPIs coletados automaticamente via CI e GitHub Actions — sem overhead manual</a:t>
            </a:r>
          </a:p>
        </p:txBody>
      </p:sp>
      <p:sp>
        <p:nvSpPr>
          <p:cNvPr id="21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334155"/>
                </a:solidFill>
                <a:latin typeface="Calibri"/>
              </a:rPr>
              <a:t>O QUE MUDA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Pela primeira vez: visibilidade objetiva de quanto e como os agentes impactam o processo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24 / 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600" b="1" dirty="0">
                <a:solidFill>
                  <a:srgbClr val="FFFFFF"/>
                </a:solidFill>
              </a:rPr>
              <a:t>Características da esteira: </a:t>
            </a:r>
            <a:r>
              <a:rPr lang="pt-BR" sz="1600" b="0" i="1" dirty="0">
                <a:solidFill>
                  <a:srgbClr val="CBD5E1"/>
                </a:solidFill>
                <a:latin typeface="Calibri"/>
              </a:rPr>
              <a:t>O loop de melhoria contínua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200" b="0" i="1" dirty="0">
                <a:solidFill>
                  <a:srgbClr val="334155"/>
                </a:solidFill>
                <a:latin typeface="Calibri"/>
              </a:rPr>
              <a:t>"A esteira aprende com cada incidente, cada review e cada falha de CI — ficando melhor com o tempo"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MONITORAMENTO → FIX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Firebase detecta crash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ou queda de jornada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Agente 07 correlaciona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sinais e formula hipótese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PR com intent.md gerado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automaticamente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On-call aprova → entra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no pipeline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Fix entregue e rastreado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até o incidente original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INCIDENTE → EVAL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Incidente chega à produção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Post-mortem identifica onde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deveria ter sido capturado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Task de eval criada para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 agente correspondente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Eval fica na suite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permanentemente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Próximo PR similar é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bloqueado em CI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FINDING → PREVENÇÃO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Copilot detecta padrão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problemático no review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Padrão identificado como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recorrente (2+ ocorrências)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Anti-pattern adicionado ao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copilot-instructions.md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Agente 04 para de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gerar o padrão ruim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Prevenção em todo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PR subsequente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334155"/>
                </a:solidFill>
                <a:latin typeface="Calibri"/>
              </a:rPr>
              <a:t>CADÊNCIA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Loop automático para monitoramento e evals — revisão de padrões quinzenal com tech lead</a:t>
            </a:r>
          </a:p>
        </p:txBody>
      </p:sp>
      <p:sp>
        <p:nvSpPr>
          <p:cNvPr id="21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334155"/>
                </a:solidFill>
                <a:latin typeface="Calibri"/>
              </a:rPr>
              <a:t>O QUE MUDA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O sistema aprende — qualidade melhora sistematicamente, não por esforço individual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25 / 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600" b="1" dirty="0">
                <a:solidFill>
                  <a:srgbClr val="FFFFFF"/>
                </a:solidFill>
                <a:latin typeface="Calibri"/>
              </a:rPr>
              <a:t>Proposta: </a:t>
            </a:r>
            <a:r>
              <a:rPr lang="pt-BR" sz="1600" i="1" dirty="0">
                <a:solidFill>
                  <a:srgbClr val="C7D2FE"/>
                </a:solidFill>
              </a:rPr>
              <a:t>Auditoria da Base de Conhecimento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200" b="0" i="1" dirty="0">
                <a:solidFill>
                  <a:srgbClr val="4338CA"/>
                </a:solidFill>
                <a:latin typeface="Calibri"/>
              </a:rPr>
              <a:t>"Sem auditoria, a esteira distribui erros com confiança — um problema humano vira problema sistêmico"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FASE 0-A — INVENTÁRIO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Mapear onde o conhecimento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existe hoje: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Repos e READMEs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Wikis e docs internas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Figma e protótipos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Cabeças dos seniores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Classificar por domínio: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Arquitetura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Guidelines de UI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Regras obrigatórias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Padrões de código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Identificar contradições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 lacunas explicitamente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FASE 0-B — VALIDAÇÃO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Engenheiros sênior validam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 que é canônico.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Gaps são declarados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explicitamente — ausência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de conteúdo é informação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válida, não omissão.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Cada item validado: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É norma obrigatória?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É sugestão?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Está desatualizado?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Tem exceções?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ADR-012: documentação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atual desatualizada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FASE 0-C — OWNERSHIP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Cada </a:t>
            </a:r>
            <a:r>
              <a:rPr lang="pt-BR" sz="1200" dirty="0">
                <a:solidFill>
                  <a:srgbClr val="1E293B"/>
                </a:solidFill>
                <a:latin typeface="Calibri"/>
              </a:rPr>
              <a:t>conhecimento</a:t>
            </a:r>
            <a:r>
              <a:rPr lang="pt-BR" sz="1200" b="0" dirty="0">
                <a:solidFill>
                  <a:srgbClr val="1E293B"/>
                </a:solidFill>
                <a:latin typeface="Calibri"/>
              </a:rPr>
              <a:t> tem um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responsável e processo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de atualização definidos.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Sem ownership: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conhecimento não é publicado.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SLA de atualização: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Regras obrigatórias: 1 sprint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Guidelines: 1 mês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Arquitetura: por release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Revisão trimestral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programada — não quando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alguém lembra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4338CA"/>
                </a:solidFill>
                <a:latin typeface="Calibri"/>
              </a:rPr>
              <a:t>PRÉ-REQUISITO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Precede qualquer bootstrap de conhecimento. Fases 0-A, 0-B, 0-C executadas antes da Fase 1</a:t>
            </a:r>
          </a:p>
        </p:txBody>
      </p:sp>
      <p:sp>
        <p:nvSpPr>
          <p:cNvPr id="21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4338CA"/>
                </a:solidFill>
                <a:latin typeface="Calibri"/>
              </a:rPr>
              <a:t>O QUE MUDA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Conhecimento vira ativo governado — com owner, SLA e processo de manutenção explícito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26 / 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600" b="1" dirty="0">
                <a:solidFill>
                  <a:srgbClr val="FFFFFF"/>
                </a:solidFill>
                <a:latin typeface="Calibri"/>
              </a:rPr>
              <a:t>Proposta: </a:t>
            </a:r>
            <a:r>
              <a:rPr lang="pt-BR" sz="1600" i="1" dirty="0">
                <a:solidFill>
                  <a:srgbClr val="C7D2FE"/>
                </a:solidFill>
              </a:rPr>
              <a:t>Injeção determinística de conhecimento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200" b="0" i="1" dirty="0">
                <a:solidFill>
                  <a:srgbClr val="4338CA"/>
                </a:solidFill>
                <a:latin typeface="Calibri"/>
              </a:rPr>
              <a:t>"Contexto injetado deterministicamente, não RAG sobre documentação indexada"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DETERMINÍSTICO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 agente recebe exatamente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 mesmo contexto a cada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execução.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Não depende de: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Resultado de busca RAG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Ranking de embeddings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Momento da indexação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Skills são versionadas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como código — qualquer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mudança é rastreável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 revisável.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AUDITÁVEL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Qualquer comportamento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do agente é rastreável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ao contexto injetado.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Wiki / RAG: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Descoberta manual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Atualização dependente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de alguém lembrar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Para o agente: inacessível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MCP / injeção: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Automática pelo Copilot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CI atualiza a cada release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Conteúdo exato injetado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TESTÁVEL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Evals são reproduzíveis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porque o contexto não varia.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Se o contexto varia (RAG),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 mesma task pode passar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hoje e falhar amanhã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sem nenhuma mudança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explícita.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Determinismo é requisito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para evals confiáveis —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 evals são o contrato de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qualidade dos agentes.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4338CA"/>
                </a:solidFill>
                <a:latin typeface="Calibri"/>
              </a:rPr>
              <a:t>OWNER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Time de plataforma — mantém as skills como infraestrutura, não como documentação</a:t>
            </a:r>
          </a:p>
        </p:txBody>
      </p:sp>
      <p:sp>
        <p:nvSpPr>
          <p:cNvPr id="21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4338CA"/>
                </a:solidFill>
                <a:latin typeface="Calibri"/>
              </a:rPr>
              <a:t>O QUE MUDA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Copilot para de descobrir contexto — passa a receber contexto curado, versionado e testável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27 / 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dirty="0">
                <a:solidFill>
                  <a:srgbClr val="FFFFFF"/>
                </a:solidFill>
                <a:latin typeface="Calibri"/>
              </a:rPr>
              <a:t>Proposta: </a:t>
            </a:r>
            <a:r>
              <a:rPr lang="pt-BR" sz="1600" b="0" i="1" dirty="0">
                <a:solidFill>
                  <a:srgbClr val="C7D2FE"/>
                </a:solidFill>
                <a:latin typeface="Calibri"/>
              </a:rPr>
              <a:t>Como resolver: BBDS como Infraestrutura </a:t>
            </a:r>
            <a:r>
              <a:rPr lang="pt-BR" sz="1600" b="0" i="1" dirty="0" err="1">
                <a:solidFill>
                  <a:srgbClr val="C7D2FE"/>
                </a:solidFill>
                <a:latin typeface="Calibri"/>
              </a:rPr>
              <a:t>Auto-gerada</a:t>
            </a:r>
            <a:endParaRPr lang="pt-BR" sz="1600" b="0" i="1" dirty="0">
              <a:solidFill>
                <a:srgbClr val="C7D2FE"/>
              </a:solidFill>
              <a:latin typeface="Calibri"/>
            </a:endParaRP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200" b="0" i="1" dirty="0">
                <a:solidFill>
                  <a:srgbClr val="4338CA"/>
                </a:solidFill>
                <a:latin typeface="Calibri"/>
              </a:rPr>
              <a:t>"Pipeline de CI extrai a API do BBDS automaticamente — sempre sincronizado com a versão instalada"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PROBLEMA ATUAL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Documentação manual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Desatualizada em relação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à versão instalada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@deprecated sem migration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path visível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Agente 04 usa props erradas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sem perceber.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Resultado: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Props obsoletas no código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Bug silencioso até CI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ou code review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Problema recorrente em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cada update do BBDS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COMO RESOLVER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1. ts-morph extrai props,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tipos, defaults 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@deprecated de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@bbds/components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2. CI publica: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</a:t>
            </a:r>
            <a:r>
              <a:rPr lang="pt-BR" sz="1200" b="0" dirty="0" err="1">
                <a:solidFill>
                  <a:srgbClr val="1E293B"/>
                </a:solidFill>
                <a:latin typeface="Calibri"/>
              </a:rPr>
              <a:t>bbds</a:t>
            </a:r>
            <a:r>
              <a:rPr lang="pt-BR" sz="1200" b="0" dirty="0">
                <a:solidFill>
                  <a:srgbClr val="1E293B"/>
                </a:solidFill>
                <a:latin typeface="Calibri"/>
              </a:rPr>
              <a:t>-api-</a:t>
            </a:r>
            <a:r>
              <a:rPr lang="pt-BR" sz="1200" b="0" dirty="0" err="1">
                <a:solidFill>
                  <a:srgbClr val="1E293B"/>
                </a:solidFill>
                <a:latin typeface="Calibri"/>
              </a:rPr>
              <a:t>reference.md</a:t>
            </a: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a cada nova versão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instalada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3. SLA: &lt; 30 min após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release do BBDS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4. Disponível via MCP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para injeção nos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agentes ativos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ISSO RESOLVE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 04 sempre usa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API atual do BBDS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Props @deprecated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detectadas antes de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qualquer linha de código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Migration paths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disponíveis automaticamente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Desatualização vira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impossível</a:t>
            </a:r>
          </a:p>
          <a:p>
            <a:pPr marL="0" indent="0">
              <a:buNone/>
            </a:pPr>
            <a:endParaRPr lang="pt-BR" sz="1200" b="0" dirty="0">
              <a:solidFill>
                <a:srgbClr val="1E293B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figma-to-code cruza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Figma contra referência</a:t>
            </a:r>
          </a:p>
          <a:p>
            <a:pPr marL="0" indent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sempre atualizada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4338CA"/>
                </a:solidFill>
                <a:latin typeface="Calibri"/>
              </a:rPr>
              <a:t>OWNER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Time de plataforma — pipeline de CI mantém automaticamente após configuração inicial</a:t>
            </a:r>
          </a:p>
        </p:txBody>
      </p:sp>
      <p:sp>
        <p:nvSpPr>
          <p:cNvPr id="21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4338CA"/>
                </a:solidFill>
                <a:latin typeface="Calibri"/>
              </a:rPr>
              <a:t>O QUE MUDA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BBDS passa de documento curado para infraestrutura auto-gerada e sempre confiável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28 / 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dirty="0">
                <a:solidFill>
                  <a:srgbClr val="FFFFFF"/>
                </a:solidFill>
                <a:latin typeface="Calibri"/>
              </a:rPr>
              <a:t>Proposta: </a:t>
            </a:r>
            <a:r>
              <a:rPr lang="pt-BR" sz="1600" b="0" i="1" dirty="0">
                <a:solidFill>
                  <a:srgbClr val="C7D2FE"/>
                </a:solidFill>
                <a:latin typeface="Calibri"/>
              </a:rPr>
              <a:t>Como resolver: Contratos de API e Adapter Pattern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200" b="0" i="1" dirty="0">
                <a:solidFill>
                  <a:srgbClr val="4338CA"/>
                </a:solidFill>
                <a:latin typeface="Calibri"/>
              </a:rPr>
              <a:t>"Contrato formal classifica cada endpoint — adapter pattern isola frontend do backend"</a:t>
            </a:r>
          </a:p>
        </p:txBody>
      </p:sp>
      <p:sp>
        <p:nvSpPr>
          <p:cNvPr id="6" name="LBg"/>
          <p:cNvSpPr/>
          <p:nvPr/>
        </p:nvSpPr>
        <p:spPr>
          <a:xfrm>
            <a:off x="114600" y="1143000"/>
            <a:ext cx="44001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LLbl"/>
          <p:cNvSpPr/>
          <p:nvPr/>
        </p:nvSpPr>
        <p:spPr>
          <a:xfrm>
            <a:off x="114600" y="1143000"/>
            <a:ext cx="4400100" cy="2743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LLblT"/>
          <p:cNvSpPr txBox="1"/>
          <p:nvPr/>
        </p:nvSpPr>
        <p:spPr>
          <a:xfrm>
            <a:off x="114600" y="1143000"/>
            <a:ext cx="44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OS 3 ESTÁGIOS</a:t>
            </a:r>
          </a:p>
        </p:txBody>
      </p:sp>
      <p:sp>
        <p:nvSpPr>
          <p:cNvPr id="9" name="Steps"/>
          <p:cNvSpPr txBox="1"/>
          <p:nvPr/>
        </p:nvSpPr>
        <p:spPr>
          <a:xfrm>
            <a:off x="114600" y="1417320"/>
            <a:ext cx="44001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1" dirty="0">
                <a:solidFill>
                  <a:srgbClr val="4338CA"/>
                </a:solidFill>
                <a:latin typeface="Calibri"/>
              </a:rPr>
              <a:t>1 — Agente 02 (Spec)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Gera api-contract.md — classifica cada endpoint como: reutilizar, extensão ou novo. Ocorre antes de qualquer código.</a:t>
            </a:r>
          </a:p>
          <a:p>
            <a:pPr marL="0" indent="0">
              <a:buNone/>
            </a:pPr>
            <a:endParaRPr lang="pt-BR" sz="110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1" dirty="0">
                <a:solidFill>
                  <a:srgbClr val="4338CA"/>
                </a:solidFill>
                <a:latin typeface="Calibri"/>
              </a:rPr>
              <a:t>2 — Agente 04 (Build)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Adapter pattern obrigatório — interface + mock + impl + feature flag selector. Frontend nunca chama backend diretamente.</a:t>
            </a:r>
          </a:p>
          <a:p>
            <a:pPr marL="0" indent="0">
              <a:buNone/>
            </a:pPr>
            <a:endParaRPr lang="pt-BR" sz="110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200" b="1" dirty="0">
                <a:solidFill>
                  <a:srgbClr val="4338CA"/>
                </a:solidFill>
                <a:latin typeface="Calibri"/>
              </a:rPr>
              <a:t>3 — Agente 06 (Deploy)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Sem ServiceImpl? Flag desativada → mock ativo, feature oculta de usuários. Backend pode ser entregue depois.</a:t>
            </a:r>
          </a:p>
        </p:txBody>
      </p:sp>
      <p:sp>
        <p:nvSpPr>
          <p:cNvPr id="10" name="RBg"/>
          <p:cNvSpPr/>
          <p:nvPr/>
        </p:nvSpPr>
        <p:spPr>
          <a:xfrm>
            <a:off x="4629300" y="1143000"/>
            <a:ext cx="44001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RLbl"/>
          <p:cNvSpPr/>
          <p:nvPr/>
        </p:nvSpPr>
        <p:spPr>
          <a:xfrm>
            <a:off x="4629300" y="1143000"/>
            <a:ext cx="4400100" cy="2743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2" name="RLblT"/>
          <p:cNvSpPr txBox="1"/>
          <p:nvPr/>
        </p:nvSpPr>
        <p:spPr>
          <a:xfrm>
            <a:off x="4629300" y="1143000"/>
            <a:ext cx="44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ESTRUTURA DO ADAPTER</a:t>
            </a:r>
          </a:p>
        </p:txBody>
      </p:sp>
      <p:sp>
        <p:nvSpPr>
          <p:cNvPr id="13" name="Tree"/>
          <p:cNvSpPr txBox="1"/>
          <p:nvPr/>
        </p:nvSpPr>
        <p:spPr>
          <a:xfrm>
            <a:off x="4629300" y="1417320"/>
            <a:ext cx="4400100" cy="16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services/payment/</a:t>
            </a:r>
          </a:p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PaymentService.ts</a:t>
            </a:r>
          </a:p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  ← interface (a porta)</a:t>
            </a:r>
          </a:p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PaymentServiceMock.ts</a:t>
            </a:r>
          </a:p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  ← mock (dev/CI)</a:t>
            </a:r>
          </a:p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PaymentServiceImpl.ts</a:t>
            </a:r>
          </a:p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  ← real (quando pronto)</a:t>
            </a:r>
          </a:p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index.ts</a:t>
            </a:r>
          </a:p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  ← feature flag selector</a:t>
            </a:r>
          </a:p>
        </p:txBody>
      </p:sp>
      <p:sp>
        <p:nvSpPr>
          <p:cNvPr id="14" name="PBg"/>
          <p:cNvSpPr/>
          <p:nvPr/>
        </p:nvSpPr>
        <p:spPr>
          <a:xfrm>
            <a:off x="4629300" y="3077320"/>
            <a:ext cx="4400100" cy="126608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Princ"/>
          <p:cNvSpPr txBox="1"/>
          <p:nvPr/>
        </p:nvSpPr>
        <p:spPr>
          <a:xfrm>
            <a:off x="4629300" y="3077320"/>
            <a:ext cx="4400100" cy="126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>
              <a:buNone/>
            </a:pPr>
            <a:r>
              <a:rPr lang="pt-BR" sz="1100" b="1" dirty="0">
                <a:solidFill>
                  <a:srgbClr val="4338CA"/>
                </a:solidFill>
                <a:latin typeface="Calibri"/>
              </a:rPr>
              <a:t>Telas importam apenas a</a:t>
            </a:r>
          </a:p>
          <a:p>
            <a:pPr marL="0" indent="0">
              <a:buNone/>
            </a:pPr>
            <a:r>
              <a:rPr lang="pt-BR" sz="1100" b="1" dirty="0">
                <a:solidFill>
                  <a:srgbClr val="4338CA"/>
                </a:solidFill>
                <a:latin typeface="Calibri"/>
              </a:rPr>
              <a:t>interface — nunca o mock</a:t>
            </a:r>
          </a:p>
          <a:p>
            <a:pPr marL="0" indent="0">
              <a:buNone/>
            </a:pPr>
            <a:r>
              <a:rPr lang="pt-BR" sz="1100" b="1" dirty="0">
                <a:solidFill>
                  <a:srgbClr val="4338CA"/>
                </a:solidFill>
                <a:latin typeface="Calibri"/>
              </a:rPr>
              <a:t>ou impl diretamente.</a:t>
            </a:r>
          </a:p>
          <a:p>
            <a:pPr marL="0" indent="0">
              <a:buNone/>
            </a:pPr>
            <a:endParaRPr lang="pt-BR" sz="1100" b="1" dirty="0">
              <a:solidFill>
                <a:srgbClr val="4338CA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Troca de backend = mudança</a:t>
            </a:r>
          </a:p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em 1 arquivo (index.ts).</a:t>
            </a:r>
          </a:p>
        </p:txBody>
      </p:sp>
      <p:sp>
        <p:nvSpPr>
          <p:cNvPr id="16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7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8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4338CA"/>
                </a:solidFill>
                <a:latin typeface="Calibri"/>
              </a:rPr>
              <a:t>PRÉ-REQUISITO</a:t>
            </a:r>
          </a:p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Adapter pattern documentado e validado em ao menos 1 feature antes da rollout</a:t>
            </a:r>
          </a:p>
        </p:txBody>
      </p:sp>
      <p:sp>
        <p:nvSpPr>
          <p:cNvPr id="19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pt-BR" sz="1000" b="1" dirty="0">
                <a:solidFill>
                  <a:srgbClr val="4338CA"/>
                </a:solidFill>
                <a:latin typeface="Calibri"/>
              </a:rPr>
              <a:t>O QUE MUDA</a:t>
            </a:r>
          </a:p>
          <a:p>
            <a:pPr marL="0" indent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Frontend desacoplado — features avançam em paralelo ao backend</a:t>
            </a:r>
          </a:p>
        </p:txBody>
      </p:sp>
      <p:sp>
        <p:nvSpPr>
          <p:cNvPr id="20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29 / 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Onde estamos hoje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300" b="0" i="1" dirty="0">
                <a:solidFill>
                  <a:srgbClr val="475569"/>
                </a:solidFill>
                <a:latin typeface="Calibri"/>
              </a:rPr>
              <a:t>"O processo de desenvolvimento atual — antes da esteira agêntica"</a:t>
            </a:r>
          </a:p>
        </p:txBody>
      </p:sp>
      <p:sp>
        <p:nvSpPr>
          <p:cNvPr id="6" name="C1Bg"/>
          <p:cNvSpPr/>
          <p:nvPr/>
        </p:nvSpPr>
        <p:spPr>
          <a:xfrm>
            <a:off x="114600" y="1143000"/>
            <a:ext cx="4400100" cy="36579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L1Bg"/>
          <p:cNvSpPr/>
          <p:nvPr/>
        </p:nvSpPr>
        <p:spPr>
          <a:xfrm>
            <a:off x="114600" y="1143000"/>
            <a:ext cx="4400100" cy="27432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L1Lbl"/>
          <p:cNvSpPr txBox="1"/>
          <p:nvPr/>
        </p:nvSpPr>
        <p:spPr>
          <a:xfrm>
            <a:off x="114600" y="1143000"/>
            <a:ext cx="44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PROCESSO ATUAL</a:t>
            </a:r>
          </a:p>
        </p:txBody>
      </p:sp>
      <p:sp>
        <p:nvSpPr>
          <p:cNvPr id="9" name="C1"/>
          <p:cNvSpPr txBox="1"/>
          <p:nvPr/>
        </p:nvSpPr>
        <p:spPr>
          <a:xfrm>
            <a:off x="114600" y="1417320"/>
            <a:ext cx="4400100" cy="33835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150" b="1" dirty="0">
                <a:solidFill>
                  <a:srgbClr val="475569"/>
                </a:solidFill>
                <a:latin typeface="Calibri"/>
              </a:rPr>
              <a:t>Planejamento</a:t>
            </a:r>
          </a:p>
          <a:p>
            <a:pPr marL="0" indent="0">
              <a:buNone/>
            </a:pPr>
            <a:r>
              <a:rPr lang="pt-BR" sz="1000" b="0" dirty="0">
                <a:solidFill>
                  <a:srgbClr val="334155"/>
                </a:solidFill>
                <a:latin typeface="Calibri"/>
              </a:rPr>
              <a:t>Nem todas definições ficam registradas e o nível de detalhe do refinamento nem sempre é o ideal. </a:t>
            </a:r>
          </a:p>
          <a:p>
            <a:pPr marL="0" indent="0">
              <a:buNone/>
            </a:pPr>
            <a:br>
              <a:rPr lang="pt-BR" sz="1100" b="0" dirty="0">
                <a:solidFill>
                  <a:srgbClr val="334155"/>
                </a:solidFill>
                <a:latin typeface="Calibri"/>
              </a:rPr>
            </a:br>
            <a:r>
              <a:rPr lang="pt-BR" sz="1150" b="1" dirty="0">
                <a:solidFill>
                  <a:srgbClr val="475569"/>
                </a:solidFill>
                <a:latin typeface="Calibri"/>
              </a:rPr>
              <a:t>Contexto</a:t>
            </a:r>
          </a:p>
          <a:p>
            <a:pPr marL="0" indent="0">
              <a:buNone/>
            </a:pPr>
            <a:r>
              <a:rPr lang="pt-BR" sz="1000" b="0" dirty="0">
                <a:solidFill>
                  <a:srgbClr val="334155"/>
                </a:solidFill>
                <a:latin typeface="Calibri"/>
              </a:rPr>
              <a:t>Cada dev acessa documentação de forma diferente; sem padronização do que o Copilot 'sabe' ao abrir o projeto</a:t>
            </a:r>
          </a:p>
          <a:p>
            <a:pPr marL="0" indent="0">
              <a:buNone/>
            </a:pPr>
            <a:endParaRPr lang="pt-BR" sz="110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50" b="1" dirty="0">
                <a:solidFill>
                  <a:srgbClr val="475569"/>
                </a:solidFill>
                <a:latin typeface="Calibri"/>
              </a:rPr>
              <a:t>Revisão</a:t>
            </a:r>
          </a:p>
          <a:p>
            <a:pPr marL="0" indent="0">
              <a:buNone/>
            </a:pPr>
            <a:r>
              <a:rPr lang="pt-BR" sz="1000" b="0" dirty="0">
                <a:solidFill>
                  <a:srgbClr val="334155"/>
                </a:solidFill>
                <a:latin typeface="Calibri"/>
              </a:rPr>
              <a:t>Code review humano parcial — sem critérios formais, sem referência à spec, sem detecção automática de conformidade – existe </a:t>
            </a:r>
            <a:r>
              <a:rPr lang="pt-BR" sz="1000" dirty="0" err="1">
                <a:solidFill>
                  <a:srgbClr val="334155"/>
                </a:solidFill>
                <a:latin typeface="Calibri"/>
              </a:rPr>
              <a:t>c</a:t>
            </a:r>
            <a:r>
              <a:rPr lang="pt-BR" sz="1000" b="0" dirty="0" err="1">
                <a:solidFill>
                  <a:srgbClr val="334155"/>
                </a:solidFill>
                <a:latin typeface="Calibri"/>
              </a:rPr>
              <a:t>ode</a:t>
            </a:r>
            <a:r>
              <a:rPr lang="pt-BR" sz="1000" b="0" dirty="0">
                <a:solidFill>
                  <a:srgbClr val="334155"/>
                </a:solidFill>
                <a:latin typeface="Calibri"/>
              </a:rPr>
              <a:t> Review automatizado na esteira. </a:t>
            </a:r>
          </a:p>
          <a:p>
            <a:pPr marL="0" indent="0">
              <a:buNone/>
            </a:pPr>
            <a:endParaRPr lang="pt-BR" sz="110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50" b="1" dirty="0">
                <a:solidFill>
                  <a:srgbClr val="475569"/>
                </a:solidFill>
                <a:latin typeface="Calibri"/>
              </a:rPr>
              <a:t>Monitoramento</a:t>
            </a:r>
          </a:p>
          <a:p>
            <a:pPr marL="0" indent="0">
              <a:buNone/>
            </a:pPr>
            <a:r>
              <a:rPr lang="pt-BR" sz="1000" b="0" dirty="0">
                <a:solidFill>
                  <a:srgbClr val="334155"/>
                </a:solidFill>
                <a:latin typeface="Calibri"/>
              </a:rPr>
              <a:t>Alertas reativos, diagnóstico manual — contexto acumulado por seniores, não por sistema</a:t>
            </a:r>
          </a:p>
          <a:p>
            <a:pPr marL="0" indent="0">
              <a:buNone/>
            </a:pPr>
            <a:endParaRPr lang="pt-BR" sz="110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50" b="1" dirty="0">
                <a:solidFill>
                  <a:srgbClr val="475569"/>
                </a:solidFill>
                <a:latin typeface="Calibri"/>
              </a:rPr>
              <a:t>Rastreabilidade</a:t>
            </a:r>
          </a:p>
          <a:p>
            <a:pPr marL="0" indent="0">
              <a:buNone/>
            </a:pPr>
            <a:r>
              <a:rPr lang="pt-BR" sz="1000" b="0" dirty="0">
                <a:solidFill>
                  <a:srgbClr val="334155"/>
                </a:solidFill>
                <a:latin typeface="Calibri"/>
              </a:rPr>
              <a:t>Difícil responder 'por que esse código existe?' — </a:t>
            </a:r>
            <a:r>
              <a:rPr lang="pt-BR" sz="1000" b="0" dirty="0" err="1">
                <a:solidFill>
                  <a:srgbClr val="334155"/>
                </a:solidFill>
                <a:latin typeface="Calibri"/>
              </a:rPr>
              <a:t>decision</a:t>
            </a:r>
            <a:r>
              <a:rPr lang="pt-BR" sz="1000" b="0" dirty="0">
                <a:solidFill>
                  <a:srgbClr val="334155"/>
                </a:solidFill>
                <a:latin typeface="Calibri"/>
              </a:rPr>
              <a:t> log é memória, não artefato</a:t>
            </a:r>
          </a:p>
        </p:txBody>
      </p:sp>
      <p:sp>
        <p:nvSpPr>
          <p:cNvPr id="10" name="C2Bg"/>
          <p:cNvSpPr/>
          <p:nvPr/>
        </p:nvSpPr>
        <p:spPr>
          <a:xfrm>
            <a:off x="4629300" y="1143000"/>
            <a:ext cx="4400100" cy="36579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2Bg"/>
          <p:cNvSpPr/>
          <p:nvPr/>
        </p:nvSpPr>
        <p:spPr>
          <a:xfrm>
            <a:off x="4629300" y="1143000"/>
            <a:ext cx="4400100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2" name="L2Lbl"/>
          <p:cNvSpPr txBox="1"/>
          <p:nvPr/>
        </p:nvSpPr>
        <p:spPr>
          <a:xfrm>
            <a:off x="4629300" y="1143000"/>
            <a:ext cx="44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AS CONSEQUÊNCIAS</a:t>
            </a:r>
          </a:p>
        </p:txBody>
      </p:sp>
      <p:sp>
        <p:nvSpPr>
          <p:cNvPr id="13" name="C2"/>
          <p:cNvSpPr txBox="1"/>
          <p:nvPr/>
        </p:nvSpPr>
        <p:spPr>
          <a:xfrm>
            <a:off x="4629300" y="1417320"/>
            <a:ext cx="4400100" cy="33835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• Conhecimento fica na cabeça dos seniores — difícil de transferir e escalar</a:t>
            </a:r>
          </a:p>
          <a:p>
            <a:pPr marL="0" indent="0">
              <a:buNone/>
            </a:pPr>
            <a:endParaRPr lang="pt-BR" sz="115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• Adoção do Copilot pontual — cada dev usa do seu jeito, sem ganho de escala</a:t>
            </a:r>
          </a:p>
          <a:p>
            <a:pPr marL="0" indent="0">
              <a:buNone/>
            </a:pPr>
            <a:endParaRPr lang="pt-BR" sz="115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• Incidentes de produção difíceis de rastrear até a causa — contexto perdido</a:t>
            </a:r>
          </a:p>
          <a:p>
            <a:pPr marL="0" indent="0">
              <a:buNone/>
            </a:pPr>
            <a:endParaRPr lang="pt-BR" sz="115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• Revisões inconsistentes — qualidade depende do </a:t>
            </a:r>
            <a:r>
              <a:rPr lang="pt-BR" sz="1150" b="0" dirty="0" err="1">
                <a:solidFill>
                  <a:srgbClr val="334155"/>
                </a:solidFill>
                <a:latin typeface="Calibri"/>
              </a:rPr>
              <a:t>reviewer</a:t>
            </a:r>
            <a:r>
              <a:rPr lang="pt-BR" sz="1150" b="0" dirty="0">
                <a:solidFill>
                  <a:srgbClr val="334155"/>
                </a:solidFill>
                <a:latin typeface="Calibri"/>
              </a:rPr>
              <a:t> disponível</a:t>
            </a:r>
          </a:p>
          <a:p>
            <a:pPr marL="0" indent="0">
              <a:buNone/>
            </a:pPr>
            <a:endParaRPr lang="pt-BR" sz="115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• Sem métricas do processo — impossível saber o que melhorar</a:t>
            </a:r>
          </a:p>
          <a:p>
            <a:pPr marL="0" indent="0">
              <a:buNone/>
            </a:pPr>
            <a:endParaRPr lang="pt-BR" sz="115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• Spec e implementação divergem silenciosamente durante o desenvolvimento</a:t>
            </a:r>
          </a:p>
        </p:txBody>
      </p:sp>
      <p:sp>
        <p:nvSpPr>
          <p:cNvPr id="14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30 / 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O que ainda precisa ser decidido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FF9C4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300" b="0" i="1" dirty="0">
                <a:solidFill>
                  <a:srgbClr val="92400E"/>
                </a:solidFill>
                <a:latin typeface="Calibri"/>
              </a:rPr>
              <a:t>"O que foi apresentado é uma proposta — estas são as decisões que precisam ser tomadas para começar"</a:t>
            </a:r>
          </a:p>
        </p:txBody>
      </p:sp>
      <p:sp>
        <p:nvSpPr>
          <p:cNvPr id="6" name="B1Bg"/>
          <p:cNvSpPr/>
          <p:nvPr/>
        </p:nvSpPr>
        <p:spPr>
          <a:xfrm>
            <a:off x="114600" y="1143000"/>
            <a:ext cx="8914800" cy="13716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B1Bar"/>
          <p:cNvSpPr/>
          <p:nvPr/>
        </p:nvSpPr>
        <p:spPr>
          <a:xfrm>
            <a:off x="114600" y="1143000"/>
            <a:ext cx="8914800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B1Lbl"/>
          <p:cNvSpPr txBox="1"/>
          <p:nvPr/>
        </p:nvSpPr>
        <p:spPr>
          <a:xfrm>
            <a:off x="114600" y="1143000"/>
            <a:ext cx="8914800" cy="27432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marL="0" indent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⚠  DECISÃO BLOQUEANTE — ADR-009: Arquitetura de Distribuição de Conhecimento</a:t>
            </a:r>
          </a:p>
        </p:txBody>
      </p:sp>
      <p:sp>
        <p:nvSpPr>
          <p:cNvPr id="9" name="B1"/>
          <p:cNvSpPr txBox="1"/>
          <p:nvPr/>
        </p:nvSpPr>
        <p:spPr>
          <a:xfrm>
            <a:off x="114600" y="1417320"/>
            <a:ext cx="8914800" cy="10972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200" b="1" dirty="0">
                <a:solidFill>
                  <a:srgbClr val="7F1D1D"/>
                </a:solidFill>
                <a:latin typeface="Calibri"/>
              </a:rPr>
              <a:t>Qual arquitetura para distribuir conhecimento em escala para todos os repos?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• MCP Server Centralizado (modelo Stripe) — zero drift, auditabilidade total, requer nova infraestrutura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• Pacote npm versionado (modelo Shopify) — drift explícito via Dependabot, sem enforcement técnico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• Arquitetura híbrida em 3 camadas — recomendada no ADR-009, mas requer validação com segurança e arquitetura</a:t>
            </a:r>
          </a:p>
          <a:p>
            <a:pPr marL="0" indent="0">
              <a:buNone/>
            </a:pPr>
            <a:r>
              <a:rPr lang="pt-BR" sz="1150" b="1" dirty="0">
                <a:solidFill>
                  <a:srgbClr val="DC2626"/>
                </a:solidFill>
                <a:latin typeface="Calibri"/>
              </a:rPr>
              <a:t>Esta decisão BLOQUEIA a Fase 0 — precede a criação de qualquer conteúdo de conhecimento.</a:t>
            </a:r>
          </a:p>
        </p:txBody>
      </p:sp>
      <p:sp>
        <p:nvSpPr>
          <p:cNvPr id="10" name="B2Bg"/>
          <p:cNvSpPr/>
          <p:nvPr/>
        </p:nvSpPr>
        <p:spPr>
          <a:xfrm>
            <a:off x="114600" y="2572320"/>
            <a:ext cx="8914800" cy="1828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B2Bar"/>
          <p:cNvSpPr/>
          <p:nvPr/>
        </p:nvSpPr>
        <p:spPr>
          <a:xfrm>
            <a:off x="114600" y="2572320"/>
            <a:ext cx="8914800" cy="27432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2" name="B2Lbl"/>
          <p:cNvSpPr txBox="1"/>
          <p:nvPr/>
        </p:nvSpPr>
        <p:spPr>
          <a:xfrm>
            <a:off x="114600" y="2572320"/>
            <a:ext cx="8914800" cy="27432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marL="0" indent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OUTRAS DECISÕES PENDENTES</a:t>
            </a:r>
          </a:p>
        </p:txBody>
      </p:sp>
      <p:sp>
        <p:nvSpPr>
          <p:cNvPr id="13" name="B2"/>
          <p:cNvSpPr txBox="1"/>
          <p:nvPr/>
        </p:nvSpPr>
        <p:spPr>
          <a:xfrm>
            <a:off x="114600" y="2846640"/>
            <a:ext cx="8914800" cy="1554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Validações para ADR-009: segurança (onde o MCP server fica), arquitetura (infraestrutura), times (aceitação e adoção)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Eval runner: infraestrutura de CI para rodar a eval suite (GitHub Actions runners + Copilot API non-interactive)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Figma dev mode: acesso ao dev mode para a skill figma-to-code funcionar com a API completa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MCP catálogo de serviços de backend: disponibilizar endpoints para classificação pelo Agente 02</a:t>
            </a:r>
          </a:p>
        </p:txBody>
      </p:sp>
      <p:sp>
        <p:nvSpPr>
          <p:cNvPr id="14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31 / 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Roadmap de implementação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300" b="0" i="1" dirty="0">
                <a:solidFill>
                  <a:srgbClr val="475569"/>
                </a:solidFill>
                <a:latin typeface="Calibri"/>
              </a:rPr>
              <a:t>"Implementação progressiva — cada fase entrega valor e habilita a próxima"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6579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LBg"/>
          <p:cNvSpPr/>
          <p:nvPr/>
        </p:nvSpPr>
        <p:spPr>
          <a:xfrm>
            <a:off x="114600" y="1143000"/>
            <a:ext cx="2743200" cy="5486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Lbl"/>
          <p:cNvSpPr txBox="1"/>
          <p:nvPr/>
        </p:nvSpPr>
        <p:spPr>
          <a:xfrm>
            <a:off x="114600" y="1152079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dirty="0">
                <a:solidFill>
                  <a:srgbClr val="FFFFFF"/>
                </a:solidFill>
                <a:latin typeface="Calibri"/>
              </a:rPr>
              <a:t>FASE 0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691640"/>
            <a:ext cx="2743200" cy="310926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Decisão: ADR-009 (arquitetura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de distribuição de conhecimento)</a:t>
            </a:r>
          </a:p>
          <a:p>
            <a:pPr marL="0" indent="0">
              <a:buNone/>
            </a:pPr>
            <a:endParaRPr lang="pt-BR" sz="115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Auditoria da base de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conhecimento existente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(Fases 0-A, 0-B, 0-C)</a:t>
            </a:r>
          </a:p>
          <a:p>
            <a:pPr marL="0" indent="0">
              <a:buNone/>
            </a:pPr>
            <a:endParaRPr lang="pt-BR" sz="115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Bootstrap de conhecimento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em platform-knowledge/</a:t>
            </a:r>
          </a:p>
          <a:p>
            <a:pPr marL="0" indent="0">
              <a:buNone/>
            </a:pPr>
            <a:endParaRPr lang="pt-BR" sz="115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Pipeline BBDS auto-gerado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(bbds-api-reference.md em CI)</a:t>
            </a:r>
          </a:p>
          <a:p>
            <a:pPr marL="0" indent="0">
              <a:buNone/>
            </a:pPr>
            <a:endParaRPr lang="pt-BR" sz="115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Adapter pattern documentado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e validado em 1 feature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6579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g"/>
          <p:cNvSpPr/>
          <p:nvPr/>
        </p:nvSpPr>
        <p:spPr>
          <a:xfrm>
            <a:off x="2972400" y="1142999"/>
            <a:ext cx="2743200" cy="557719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2" name="Lbl"/>
          <p:cNvSpPr txBox="1"/>
          <p:nvPr/>
        </p:nvSpPr>
        <p:spPr>
          <a:xfrm>
            <a:off x="2972400" y="1142998"/>
            <a:ext cx="2743200" cy="557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dirty="0">
                <a:solidFill>
                  <a:srgbClr val="FFFFFF"/>
                </a:solidFill>
                <a:latin typeface="Calibri"/>
              </a:rPr>
              <a:t>FASE 1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691640"/>
            <a:ext cx="2743200" cy="310926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Agentes 02–07 ativados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progressivamente, começando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pelo bundle com maior volume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de mudanças</a:t>
            </a:r>
          </a:p>
          <a:p>
            <a:pPr marL="0" indent="0">
              <a:buNone/>
            </a:pPr>
            <a:endParaRPr lang="pt-BR" sz="115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Avaliação e evals mínimos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por agente (≥ 15 tasks)</a:t>
            </a:r>
          </a:p>
          <a:p>
            <a:pPr marL="0" indent="0">
              <a:buNone/>
            </a:pPr>
            <a:endParaRPr lang="pt-BR" sz="115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Gates humanos configurados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por estágio</a:t>
            </a:r>
          </a:p>
          <a:p>
            <a:pPr marL="0" indent="0">
              <a:buNone/>
            </a:pPr>
            <a:endParaRPr lang="pt-BR" sz="115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Primeiros KPIs coletados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e revisados com o tech lead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6579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g"/>
          <p:cNvSpPr/>
          <p:nvPr/>
        </p:nvSpPr>
        <p:spPr>
          <a:xfrm>
            <a:off x="5830200" y="1143000"/>
            <a:ext cx="2743200" cy="5486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Lbl"/>
          <p:cNvSpPr txBox="1"/>
          <p:nvPr/>
        </p:nvSpPr>
        <p:spPr>
          <a:xfrm>
            <a:off x="5830200" y="1142998"/>
            <a:ext cx="2743200" cy="548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dirty="0">
                <a:solidFill>
                  <a:srgbClr val="FFFFFF"/>
                </a:solidFill>
                <a:latin typeface="Calibri"/>
              </a:rPr>
              <a:t>FASE 2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691640"/>
            <a:ext cx="2743200" cy="310926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MCP Server Centralizado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(pós ADR-009 + validações)</a:t>
            </a:r>
          </a:p>
          <a:p>
            <a:pPr marL="0" indent="0">
              <a:buNone/>
            </a:pPr>
            <a:endParaRPr lang="pt-BR" sz="115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Evals maduros por agente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(≥ 30 tasks, pass rate ≥ 85%)</a:t>
            </a:r>
          </a:p>
          <a:p>
            <a:pPr marL="0" indent="0">
              <a:buNone/>
            </a:pPr>
            <a:endParaRPr lang="pt-BR" sz="115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Expansão para todos os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bundles ativos</a:t>
            </a:r>
          </a:p>
          <a:p>
            <a:pPr marL="0" indent="0">
              <a:buNone/>
            </a:pPr>
            <a:endParaRPr lang="pt-BR" sz="115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Governança de knowledge: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owners, SLAs, revisão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trimestral</a:t>
            </a:r>
          </a:p>
          <a:p>
            <a:pPr marL="0" indent="0">
              <a:buNone/>
            </a:pPr>
            <a:endParaRPr lang="pt-BR" sz="115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Loop de melhoria contínua</a:t>
            </a:r>
          </a:p>
          <a:p>
            <a:pPr marL="0" indent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operacional</a:t>
            </a:r>
          </a:p>
        </p:txBody>
      </p:sp>
      <p:sp>
        <p:nvSpPr>
          <p:cNvPr id="18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32 / 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Adoção progressiva — os 4 níveis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marL="0" indent="0" algn="ctr">
              <a:buNone/>
            </a:pPr>
            <a:r>
              <a:rPr lang="pt-BR" sz="1300" b="0" i="1" dirty="0">
                <a:solidFill>
                  <a:srgbClr val="475569"/>
                </a:solidFill>
                <a:latin typeface="Calibri"/>
              </a:rPr>
              <a:t>"Repos legados não entram na esteira completa de uma vez — priorização por volume de mudanças"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0574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7" name="LBg"/>
          <p:cNvSpPr/>
          <p:nvPr/>
        </p:nvSpPr>
        <p:spPr>
          <a:xfrm>
            <a:off x="114600" y="1143000"/>
            <a:ext cx="2057400" cy="541636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8" name="Lbl"/>
          <p:cNvSpPr txBox="1"/>
          <p:nvPr/>
        </p:nvSpPr>
        <p:spPr>
          <a:xfrm>
            <a:off x="114600" y="1143000"/>
            <a:ext cx="2057400" cy="541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b="1" dirty="0">
                <a:solidFill>
                  <a:srgbClr val="FFFFFF"/>
                </a:solidFill>
                <a:latin typeface="Calibri"/>
              </a:rPr>
              <a:t>NÍVEL 0</a:t>
            </a:r>
          </a:p>
          <a:p>
            <a:pPr marL="0" indent="0" algn="ctr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Sem customização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684636"/>
            <a:ext cx="2057400" cy="2658764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Copilot padrão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Sem copilot-instructions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Sem evals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Sem artefatos</a:t>
            </a:r>
          </a:p>
          <a:p>
            <a:pPr marL="0" indent="0">
              <a:buNone/>
            </a:pPr>
            <a:endParaRPr lang="pt-BR" sz="110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Situação atual da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maioria dos repos</a:t>
            </a:r>
          </a:p>
        </p:txBody>
      </p:sp>
      <p:sp>
        <p:nvSpPr>
          <p:cNvPr id="10" name="CBg"/>
          <p:cNvSpPr/>
          <p:nvPr/>
        </p:nvSpPr>
        <p:spPr>
          <a:xfrm>
            <a:off x="2286600" y="1143000"/>
            <a:ext cx="20574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1" name="LBg"/>
          <p:cNvSpPr/>
          <p:nvPr/>
        </p:nvSpPr>
        <p:spPr>
          <a:xfrm>
            <a:off x="2286600" y="1142999"/>
            <a:ext cx="2057400" cy="541633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2" name="Lbl"/>
          <p:cNvSpPr txBox="1"/>
          <p:nvPr/>
        </p:nvSpPr>
        <p:spPr>
          <a:xfrm>
            <a:off x="2286600" y="1142999"/>
            <a:ext cx="2057400" cy="541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b="1" dirty="0">
                <a:solidFill>
                  <a:srgbClr val="FFFFFF"/>
                </a:solidFill>
                <a:latin typeface="Calibri"/>
              </a:rPr>
              <a:t>NÍVEL 1</a:t>
            </a:r>
          </a:p>
          <a:p>
            <a:pPr marL="0" indent="0" algn="ctr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Bootstrap mínimo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286600" y="1684634"/>
            <a:ext cx="2057400" cy="2658765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copilot-instructions.md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básico no repo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Sem evals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Artefatos opcionais</a:t>
            </a:r>
          </a:p>
          <a:p>
            <a:pPr marL="0" indent="0">
              <a:buNone/>
            </a:pPr>
            <a:endParaRPr lang="pt-BR" sz="110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Priorizar: bundles com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maior volume de mudanças</a:t>
            </a:r>
          </a:p>
          <a:p>
            <a:pPr marL="0" indent="0">
              <a:buNone/>
            </a:pPr>
            <a:endParaRPr lang="pt-BR" sz="110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Meta: 60 dias após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início da Fase 1</a:t>
            </a:r>
          </a:p>
        </p:txBody>
      </p:sp>
      <p:sp>
        <p:nvSpPr>
          <p:cNvPr id="14" name="CBg"/>
          <p:cNvSpPr/>
          <p:nvPr/>
        </p:nvSpPr>
        <p:spPr>
          <a:xfrm>
            <a:off x="4458600" y="1143000"/>
            <a:ext cx="20574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5" name="LBg"/>
          <p:cNvSpPr/>
          <p:nvPr/>
        </p:nvSpPr>
        <p:spPr>
          <a:xfrm>
            <a:off x="4458600" y="1143000"/>
            <a:ext cx="2057400" cy="5416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6" name="Lbl"/>
          <p:cNvSpPr txBox="1"/>
          <p:nvPr/>
        </p:nvSpPr>
        <p:spPr>
          <a:xfrm>
            <a:off x="4458000" y="1142999"/>
            <a:ext cx="2057400" cy="541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b="1" dirty="0">
                <a:solidFill>
                  <a:srgbClr val="FFFFFF"/>
                </a:solidFill>
                <a:latin typeface="Calibri"/>
              </a:rPr>
              <a:t>NÍVEL 2</a:t>
            </a:r>
          </a:p>
          <a:p>
            <a:pPr marL="0" indent="0" algn="ctr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Evals mínimos</a:t>
            </a:r>
          </a:p>
        </p:txBody>
      </p:sp>
      <p:sp>
        <p:nvSpPr>
          <p:cNvPr id="17" name="CC"/>
          <p:cNvSpPr txBox="1"/>
          <p:nvPr/>
        </p:nvSpPr>
        <p:spPr>
          <a:xfrm>
            <a:off x="4458600" y="1684632"/>
            <a:ext cx="2057400" cy="2658768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copilot-instructions.md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completo e validado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≥ 15 tasks por agente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Gates configurados</a:t>
            </a:r>
          </a:p>
          <a:p>
            <a:pPr marL="0" indent="0">
              <a:buNone/>
            </a:pPr>
            <a:endParaRPr lang="pt-BR" sz="110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KPIs coletados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Pass rate ≥ 70%</a:t>
            </a:r>
          </a:p>
          <a:p>
            <a:pPr marL="0" indent="0">
              <a:buNone/>
            </a:pPr>
            <a:endParaRPr lang="pt-BR" sz="110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Meta: 90 dias após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início da Fase 1</a:t>
            </a:r>
          </a:p>
        </p:txBody>
      </p:sp>
      <p:sp>
        <p:nvSpPr>
          <p:cNvPr id="18" name="CBg"/>
          <p:cNvSpPr/>
          <p:nvPr/>
        </p:nvSpPr>
        <p:spPr>
          <a:xfrm>
            <a:off x="6630600" y="1143000"/>
            <a:ext cx="20574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19" name="LBg"/>
          <p:cNvSpPr/>
          <p:nvPr/>
        </p:nvSpPr>
        <p:spPr>
          <a:xfrm>
            <a:off x="6630600" y="1142999"/>
            <a:ext cx="2057400" cy="541629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0" name="Lbl"/>
          <p:cNvSpPr txBox="1"/>
          <p:nvPr/>
        </p:nvSpPr>
        <p:spPr>
          <a:xfrm>
            <a:off x="6630600" y="1142999"/>
            <a:ext cx="2057400" cy="5416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b="1" dirty="0">
                <a:solidFill>
                  <a:srgbClr val="FFFFFF"/>
                </a:solidFill>
                <a:latin typeface="Calibri"/>
              </a:rPr>
              <a:t>NÍVEL 3</a:t>
            </a:r>
          </a:p>
          <a:p>
            <a:pPr marL="0" indent="0" algn="ctr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Pipeline completo</a:t>
            </a:r>
          </a:p>
        </p:txBody>
      </p:sp>
      <p:sp>
        <p:nvSpPr>
          <p:cNvPr id="21" name="CC"/>
          <p:cNvSpPr txBox="1"/>
          <p:nvPr/>
        </p:nvSpPr>
        <p:spPr>
          <a:xfrm>
            <a:off x="6630600" y="1684630"/>
            <a:ext cx="2057400" cy="2658769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Todos os agentes ativos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Evals maduros ≥ 85%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MCP server (Fase 2)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Loop de melhoria ativo</a:t>
            </a:r>
          </a:p>
          <a:p>
            <a:pPr marL="0" indent="0">
              <a:buNone/>
            </a:pPr>
            <a:endParaRPr lang="pt-BR" sz="110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Governança: owner de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cada domínio definido</a:t>
            </a:r>
          </a:p>
          <a:p>
            <a:pPr marL="0" indent="0">
              <a:buNone/>
            </a:pPr>
            <a:endParaRPr lang="pt-BR" sz="1100" b="0" dirty="0">
              <a:solidFill>
                <a:srgbClr val="334155"/>
              </a:solidFill>
              <a:latin typeface="Calibri"/>
            </a:endParaRP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Incidentes → evals</a:t>
            </a:r>
          </a:p>
          <a:p>
            <a:pPr marL="0" indent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permanentes</a:t>
            </a:r>
          </a:p>
        </p:txBody>
      </p:sp>
      <p:sp>
        <p:nvSpPr>
          <p:cNvPr id="22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3" name="FL0"/>
          <p:cNvSpPr/>
          <p:nvPr/>
        </p:nvSpPr>
        <p:spPr>
          <a:xfrm>
            <a:off x="114600" y="4526280"/>
            <a:ext cx="120000" cy="32000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4" name="FT0"/>
          <p:cNvSpPr txBox="1"/>
          <p:nvPr/>
        </p:nvSpPr>
        <p:spPr>
          <a:xfrm>
            <a:off x="274600" y="4389120"/>
            <a:ext cx="189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0" dirty="0">
                <a:solidFill>
                  <a:srgbClr val="334155"/>
                </a:solidFill>
                <a:latin typeface="Calibri"/>
              </a:rPr>
              <a:t>NÍVEL 0 — Situação atual</a:t>
            </a:r>
          </a:p>
        </p:txBody>
      </p:sp>
      <p:sp>
        <p:nvSpPr>
          <p:cNvPr id="25" name="FL1"/>
          <p:cNvSpPr/>
          <p:nvPr/>
        </p:nvSpPr>
        <p:spPr>
          <a:xfrm>
            <a:off x="2286600" y="4526280"/>
            <a:ext cx="120000" cy="3200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6" name="FT1"/>
          <p:cNvSpPr txBox="1"/>
          <p:nvPr/>
        </p:nvSpPr>
        <p:spPr>
          <a:xfrm>
            <a:off x="2446600" y="4389120"/>
            <a:ext cx="189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0" dirty="0">
                <a:solidFill>
                  <a:srgbClr val="334155"/>
                </a:solidFill>
                <a:latin typeface="Calibri"/>
              </a:rPr>
              <a:t>NÍVEL 1 — Bootstrap (60d)</a:t>
            </a:r>
          </a:p>
        </p:txBody>
      </p:sp>
      <p:sp>
        <p:nvSpPr>
          <p:cNvPr id="27" name="FL2"/>
          <p:cNvSpPr/>
          <p:nvPr/>
        </p:nvSpPr>
        <p:spPr>
          <a:xfrm>
            <a:off x="4458600" y="4526280"/>
            <a:ext cx="120000" cy="3200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28" name="FT2"/>
          <p:cNvSpPr txBox="1"/>
          <p:nvPr/>
        </p:nvSpPr>
        <p:spPr>
          <a:xfrm>
            <a:off x="4618600" y="4389120"/>
            <a:ext cx="189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0" dirty="0">
                <a:solidFill>
                  <a:srgbClr val="334155"/>
                </a:solidFill>
                <a:latin typeface="Calibri"/>
              </a:rPr>
              <a:t>NÍVEL 2 — Evals (90d)</a:t>
            </a:r>
          </a:p>
        </p:txBody>
      </p:sp>
      <p:sp>
        <p:nvSpPr>
          <p:cNvPr id="29" name="FL3"/>
          <p:cNvSpPr/>
          <p:nvPr/>
        </p:nvSpPr>
        <p:spPr>
          <a:xfrm>
            <a:off x="6630600" y="4526280"/>
            <a:ext cx="120000" cy="3200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BR"/>
          </a:p>
        </p:txBody>
      </p:sp>
      <p:sp>
        <p:nvSpPr>
          <p:cNvPr id="30" name="FT3"/>
          <p:cNvSpPr txBox="1"/>
          <p:nvPr/>
        </p:nvSpPr>
        <p:spPr>
          <a:xfrm>
            <a:off x="6790600" y="4389120"/>
            <a:ext cx="189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0" dirty="0">
                <a:solidFill>
                  <a:srgbClr val="334155"/>
                </a:solidFill>
                <a:latin typeface="Calibri"/>
              </a:rPr>
              <a:t>NÍVEL 3 — Pipeline completo</a:t>
            </a:r>
          </a:p>
        </p:txBody>
      </p:sp>
      <p:sp>
        <p:nvSpPr>
          <p:cNvPr id="31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33 / 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0881dc9-f7f2-41de-a334-ceff3dc15b31}" enabled="1" method="Privileged" siteId="{ea0c2907-38d2-4181-8750-b0b190b60443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5929</Words>
  <Application>Microsoft Macintosh PowerPoint</Application>
  <PresentationFormat>On-screen Show (16:9)</PresentationFormat>
  <Paragraphs>1141</Paragraphs>
  <Slides>33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Aptos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Joao Paulo Silva e Sousa</cp:lastModifiedBy>
  <cp:revision>2</cp:revision>
  <dcterms:created xsi:type="dcterms:W3CDTF">2026-09-09T15:31:41Z</dcterms:created>
  <dcterms:modified xsi:type="dcterms:W3CDTF">2026-09-11T13:19:34Z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Theme:3</vt:lpwstr>
  </property>
  <property fmtid="{D5CDD505-2E9C-101B-9397-08002B2CF9AE}" pid="3" name="ClassificationContentMarkingHeaderText">
    <vt:lpwstr>#interna</vt:lpwstr>
  </property>
</Properties>
</file>