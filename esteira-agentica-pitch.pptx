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61" r:id="rId7"/>
    <p:sldId id="262" r:id="rId8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16.xml"/>
<Relationship Id="rId23" Type="http://schemas.openxmlformats.org/officeDocument/2006/relationships/slide" Target="slides/slide17.xml"/>
<Relationship Id="rId24" Type="http://schemas.openxmlformats.org/officeDocument/2006/relationships/slide" Target="slides/slide18.xml"/>
<Relationship Id="rId25" Type="http://schemas.openxmlformats.org/officeDocument/2006/relationships/slide" Target="slides/slide19.xml"/>
<Relationship Id="rId26" Type="http://schemas.openxmlformats.org/officeDocument/2006/relationships/slide" Target="slides/slide20.xml"/>
<Relationship Id="rId27" Type="http://schemas.openxmlformats.org/officeDocument/2006/relationships/slide" Target="slides/slide21.xml"/>
<Relationship Id="rId28" Type="http://schemas.openxmlformats.org/officeDocument/2006/relationships/slide" Target="slides/slide22.xml"/>
<Relationship Id="rId29" Type="http://schemas.openxmlformats.org/officeDocument/2006/relationships/slide" Target="slides/slide23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Abertura: apresentar a proposta de esteira AI-native SDLC para plataforma mobile. Baseada no playbook da Anthropic, adaptada para GitHub Copilot Enterprise + React Native multi-bundle.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 central: o Copilot já está contratado, mas uso individual não escala. Precisamos de uma estrutura organizacional — artefatos, contexto, gates, métricas — para converter adoção em vantagem competitiva.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proposta em uma frase. Enfatizar: usamos o runtime que já existe (Copilot Enterprise), sem nova ferramenta. Artefatos Markdown em git = rastreáveis, diff-áveis, auditáveis.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Agente = Copilot contextualizado. Não é um processo externo. Skills são o mecanismo de conhecimento — determinísticas, versionadas, portáveis entre runtimes.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Macrofluxo em loop: sentido horário. Top: Negocial (externo, âmbar)→02 Spec→03 Plan. Desce à direita. Bottom (dir→esq): 04 Build→05 Test→06 Deploy→07 Maintain. Sobe à esquerda: 07 gera intent.md que re-entra no pipeline. O loop fecha. Negocial está em âmbar para indicar que é externo ao time de plataforma mobile.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artefatos não são burocracia — são o mecanismo que cria contexto, governa decisões e permite rastreabilidade. Sem eles, o agente opera sem contexto e o humano sem registro.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Arquitetura em 3 camadas que operam em paralelo: pipeline de artefatos, infraestrutura de conhecimento (skills), e monitoramento contínuo. Todas as integrações usam sistemas existentes.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 que não RAG? RAG é probabilístico — o chunk certo pode não ser retornado. Para segurança e compliance, "às vezes carrega a regra certa" não é aceitável. Skills são determinísticas e testáveis em evals.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ADR-012 (novo): a documentação de plataforma existente está desatualizada e incompleta. A Fase 0 começa com 3 sub-etapas: inventário (0-A), validação com SMEs (0-B), e definição de dono + processo de manutenção por domínio (0-C). Skills sem fonte de verdade validada não entram em produção. Dois bloqueadores: ADR-009 (distribuição) e ADR-012 (qualidade do conteúdo).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Princípio central: nenhum agente aprova seu próprio output. Gates calibrados ao risco. A esteira começa conservadora e pode relaxar gates à medida que evals comprovam confiabilidade.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ADR-011: O api-contract.md é o handoff formal com backend. O adapter pattern garante zero acoplamento — troca de mock para real é mudança em um arquivo. Feature flag no deploy garante que mock nunca vai a produção exposto.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Evals são testes para agentes. Cada mudança em skill ou instrução dispara CI. Pass rate de 85% é o gate — abaixo disso, o merge é bloqueado. Incidentes de produção viram evals permanentes: "não pode acontecer de novo" tem implementação concreta.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Agente 07 fecha o loop. Correlação determinística ANTES do Copilot analisar — prevenção de hallucination. Cada branch da árvore é testável em evals. Output sempre: GitHub Issue + PR com intent.md.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Resumo: 6 decisões tomadas, 1 em aberto que bloqueia Fase 0. Próximo passo: definir a arquitetura de distribuição de conhecimento com plataforma, arquitetura e segurança. Sem isso, a Fase 0 não entra em produção.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731520"/>
            <a:ext cx="3657600" cy="3657600"/>
          </a:xfrm>
          <a:prstGeom prst="ellipse">
            <a:avLst/>
          </a:prstGeom>
          <a:solidFill>
            <a:srgbClr val="1D4ED8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498080" y="274320"/>
            <a:ext cx="2286000" cy="2286000"/>
          </a:xfrm>
          <a:prstGeom prst="ellipse">
            <a:avLst/>
          </a:prstGeom>
          <a:solidFill>
            <a:srgbClr val="2563EB">
              <a:alpha val="1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37160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Esteira Agêntica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14884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AI-native SDLC Mobile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731520" y="2880360"/>
            <a:ext cx="164592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31546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Agentes executam. Humanos governam.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572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Mobile  | 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gap está crescendo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22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1280160"/>
            <a:ext cx="3657600" cy="2468880"/>
          </a:xfrm>
          <a:prstGeom prst="roundRect">
            <a:avLst>
              <a:gd name="adj" fmla="val 2963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14630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 não é falta de ferramentas de IA.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28600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Copilot Enterprise já está contratado. O problema é que adoção pontual não gera ganho de escala.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54880" y="1353312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754880" y="1353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120640" y="128016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 com IA estruturada entregam mais, com menos bugs, em menos tempo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54880" y="214884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754880" y="2148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120640" y="20574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Adoção individual ("cada um usa do seu jeito") não se converte em vantagem organizacional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754880" y="297180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5488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120640" y="288036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falta é estrutura: artefatos padronizados, contexto determinístico, gates automáticos, métricas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023360"/>
            <a:ext cx="7863840" cy="548640"/>
          </a:xfrm>
          <a:prstGeom prst="roundRect">
            <a:avLst>
              <a:gd name="adj" fmla="val 13333"/>
            </a:avLst>
          </a:prstGeom>
          <a:solidFill>
            <a:srgbClr val="0F172A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40080" y="40233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esteira é essa estrutura.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22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914400"/>
            <a:ext cx="76809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esteira onde cada estágio tem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agente especializado, rodando no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que já temos, gerenciando</a:t>
            </a:r>
            <a:endParaRPr lang="en-US" sz="2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artefatos versionados em git.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31520" y="3383280"/>
            <a:ext cx="1828800" cy="36576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36118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Baseado no AI-native SDLC Playbook da Anthropic.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Adaptado para React Native multi-bundle + GitHub Copilot Enterprise.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um "agente" nesse contexto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22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1298448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um processo em background — roda dentro do VS Code, no fluxo do dev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214884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51560" y="2075688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Instruções via copilot-instructions.md + contexto de plataforma injetado (MCP)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92608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51560" y="2852928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PO abre com intent.md → Agente 02. O engenheiro abre com spec.md → Agente 04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840480" cy="2560320"/>
          </a:xfrm>
          <a:prstGeom prst="roundRect">
            <a:avLst>
              <a:gd name="adj" fmla="val 2857"/>
            </a:avLst>
          </a:prstGeom>
          <a:solidFill>
            <a:srgbClr val="1E293B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846320" y="1417320"/>
            <a:ext cx="3474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Copilot agent mode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copilot-instructions.md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(sempre carregado)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MCP: bbds-api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(consultado por contexto)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MCP: security</a:t>
            </a:r>
            <a:endParaRPr lang="en-US" sz="13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(consultado por contexto)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= Agente especializado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1148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Conteúdo de conhecimento portável — funciona em Copilot e Claude Code sem modificação.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intent ao monitoramento — 6 agentes, 1 loop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22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228600" y="1417320"/>
            <a:ext cx="502920" cy="2331720"/>
          </a:xfrm>
          <a:prstGeom prst="roundRect">
            <a:avLst>
              <a:gd name="adj" fmla="val 21818"/>
            </a:avLst>
          </a:prstGeom>
          <a:solidFill>
            <a:srgbClr val="F0FDF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228600" y="141732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5720" y="228600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intent.md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228600" y="256032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960120" y="1143000"/>
            <a:ext cx="2011680" cy="777240"/>
          </a:xfrm>
          <a:prstGeom prst="roundRect">
            <a:avLst>
              <a:gd name="adj" fmla="val 9412"/>
            </a:avLst>
          </a:prstGeom>
          <a:solidFill>
            <a:srgbClr val="FFF7ED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1069848" y="1188720"/>
            <a:ext cx="1792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Negocial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69848" y="1536192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intent.md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520440" y="1143000"/>
            <a:ext cx="201168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630168" y="1188720"/>
            <a:ext cx="1792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Spec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630168" y="1536192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spec.md + api-contract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080760" y="1143000"/>
            <a:ext cx="201168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190488" y="1188720"/>
            <a:ext cx="1792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Plan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190488" y="1536192"/>
            <a:ext cx="1792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plan.md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017520" y="13258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577840" y="13258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183880" y="1417320"/>
            <a:ext cx="502920" cy="2331720"/>
          </a:xfrm>
          <a:prstGeom prst="roundRect">
            <a:avLst>
              <a:gd name="adj" fmla="val 21818"/>
            </a:avLst>
          </a:prstGeom>
          <a:solidFill>
            <a:srgbClr val="EFF6F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183880" y="29260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6492240" y="3246120"/>
            <a:ext cx="160020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601968" y="3291840"/>
            <a:ext cx="1380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Build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601968" y="363931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+ adapters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709160" y="3246120"/>
            <a:ext cx="160020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4818888" y="3291840"/>
            <a:ext cx="1380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Test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4818888" y="363931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de CI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926080" y="3246120"/>
            <a:ext cx="160020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3035808" y="3291840"/>
            <a:ext cx="1380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Deploy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3035808" y="363931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→ produção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960120" y="3246120"/>
            <a:ext cx="1600200" cy="777240"/>
          </a:xfrm>
          <a:prstGeom prst="roundRect">
            <a:avLst>
              <a:gd name="adj" fmla="val 9412"/>
            </a:avLst>
          </a:prstGeom>
          <a:solidFill>
            <a:srgbClr val="F0FDF4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1069848" y="3291840"/>
            <a:ext cx="1380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Maintain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1069848" y="3639312"/>
            <a:ext cx="1380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monitoramento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5989320" y="3429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4206240" y="3429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2423160" y="3429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3474720" y="23317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CICLO</a:t>
            </a:r>
            <a:endParaRPr lang="en-US" sz="14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CONTÍNUO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2286000" y="4315968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D9770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542032" y="429768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Externo ao time — inicia o ciclo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892040" y="4315968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2563EB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148072" y="42976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Mobile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artefato serve 3 funções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1280160"/>
            <a:ext cx="2514600" cy="2560320"/>
          </a:xfrm>
          <a:prstGeom prst="roundRect">
            <a:avLst>
              <a:gd name="adj" fmla="val 2909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691640" y="150876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691640" y="1508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0116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estruturado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5146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 para o próximo agente.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conversa de Slack,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memória humana.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429000" y="1280160"/>
            <a:ext cx="2514600" cy="2560320"/>
          </a:xfrm>
          <a:prstGeom prst="roundRect">
            <a:avLst>
              <a:gd name="adj" fmla="val 2909"/>
            </a:avLst>
          </a:prstGeom>
          <a:solidFill>
            <a:srgbClr val="F0FDF4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80560" y="1508760"/>
            <a:ext cx="274320" cy="27432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480560" y="1508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20116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de aprovação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25146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 com o artefato é onde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humano exerce julgamento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consciente e registrado.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17920" y="1280160"/>
            <a:ext cx="2514600" cy="2560320"/>
          </a:xfrm>
          <a:prstGeom prst="roundRect">
            <a:avLst>
              <a:gd name="adj" fmla="val 2909"/>
            </a:avLst>
          </a:prstGeom>
          <a:solidFill>
            <a:srgbClr val="FFF7ED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269480" y="1508760"/>
            <a:ext cx="274320" cy="27432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269480" y="1508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355080" y="2011680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Rastreabilidade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355080" y="25146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Qualquer linha de código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rastreia até o intent.md —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até o card do BusinessMap.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42062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"Por que esse código existe?" tem resposta objetiva.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— 3 camadas em paralelo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22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1188720"/>
            <a:ext cx="7863840" cy="777240"/>
          </a:xfrm>
          <a:prstGeom prst="roundRect">
            <a:avLst>
              <a:gd name="adj" fmla="val 9412"/>
            </a:avLst>
          </a:prstGeom>
          <a:solidFill>
            <a:srgbClr val="E2E8F0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23444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Externos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123444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BusinessMap MCP, Figma, GitHub, Firebase, Journey Monitor — já existem, a esteira integra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2103120"/>
            <a:ext cx="7863840" cy="777240"/>
          </a:xfrm>
          <a:prstGeom prst="roundRect">
            <a:avLst>
              <a:gd name="adj" fmla="val 9412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22960" y="214884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377440" y="214884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artefatos: intent → spec → plan → código → PR → produção — cada um com gate humano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3017520"/>
            <a:ext cx="7863840" cy="777240"/>
          </a:xfrm>
          <a:prstGeom prst="roundRect">
            <a:avLst>
              <a:gd name="adj" fmla="val 9412"/>
            </a:avLst>
          </a:prstGeom>
          <a:solidFill>
            <a:srgbClr val="F0FDF4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22960" y="306324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 de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Conhecimento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377440" y="306324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+ copilot-instructions.md — contexto determinístico injetado por estágio, testado em evals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3931920"/>
            <a:ext cx="7863840" cy="777240"/>
          </a:xfrm>
          <a:prstGeom prst="roundRect">
            <a:avLst>
              <a:gd name="adj" fmla="val 9412"/>
            </a:avLst>
          </a:prstGeom>
          <a:solidFill>
            <a:srgbClr val="FFF7ED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Loop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2377440" y="397764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+ Journey Monitor → correlação → diagnóstico → intent.md de incidente (fecha o loop)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Injeção determinística de conhecimento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ADR-002: Contexto injetado deterministicamente, não RAG sobre documentação indexada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137160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51560" y="1325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Determinístico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1600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agente recebe exatamente o mesmo contexto a cada execução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19456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051560" y="21488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Auditável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24231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Conteúdo auditável — qualquer comportamento rastreável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301752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51560" y="2971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Testável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051560" y="32461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Evals reproduzíveis — impossível se o contexto varia a cada run (RAG)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1325880"/>
          <a:ext cx="39319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280160"/>
                <a:gridCol w="1554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Wiki / docs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/ injeção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Descoberta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Automática pelo Copilot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Quando alguém lembra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 atualiza a cada release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Confiabilidade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Pode estar desatualizado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Endpoint determinístico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 o agente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Inacessível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Conteúdo exato injetado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0 — O pré-requisito bloqueante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escrever qualquer skill, é preciso garantir que o conteúdo é correto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1143000"/>
            <a:ext cx="7863840" cy="685800"/>
          </a:xfrm>
          <a:prstGeom prst="roundRect">
            <a:avLst>
              <a:gd name="adj" fmla="val 10667"/>
            </a:avLst>
          </a:prstGeom>
          <a:solidFill>
            <a:srgbClr val="FEF2F2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1170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ADR-012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138988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Pré-etapa obrigatória: auditoria da documentação existente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1170432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são tão confiáveis quanto o conteúdo que encodam — conteúdo incorreto distribuído de forma determinística é erro codificado com confiança.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011680"/>
            <a:ext cx="2514600" cy="1691640"/>
          </a:xfrm>
          <a:prstGeom prst="roundRect">
            <a:avLst>
              <a:gd name="adj" fmla="val 4324"/>
            </a:avLst>
          </a:prstGeom>
          <a:solidFill>
            <a:srgbClr val="FFF7ED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777240" y="208483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0-A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340864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Inventário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260604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o conhecimento existe hoje: repos, wikis, Figma, cabeças de seniores. Classificar por domínio e identificar contradições.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182112" y="2679192"/>
            <a:ext cx="201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429000" y="2011680"/>
            <a:ext cx="2514600" cy="1691640"/>
          </a:xfrm>
          <a:prstGeom prst="roundRect">
            <a:avLst>
              <a:gd name="adj" fmla="val 4324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3566160" y="208483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0-B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566160" y="2340864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 SMEs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566160" y="260604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Engenheiros sênior validam o que é canônico. Gaps são declarados explicitamente — ausência de conteúdo é informação válida.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971032" y="2679192"/>
            <a:ext cx="201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17920" y="2011680"/>
            <a:ext cx="2514600" cy="1691640"/>
          </a:xfrm>
          <a:prstGeom prst="roundRect">
            <a:avLst>
              <a:gd name="adj" fmla="val 4324"/>
            </a:avLst>
          </a:prstGeom>
          <a:solidFill>
            <a:srgbClr val="F0FDF4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355080" y="208483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0-C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355080" y="2340864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 + Manutenção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355080" y="260604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skill tem um responsável e um processo de atualização definidos. Sem isso, a skill não é publicada.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3913632"/>
            <a:ext cx="3794760" cy="658368"/>
          </a:xfrm>
          <a:prstGeom prst="roundRect">
            <a:avLst>
              <a:gd name="adj" fmla="val 11111"/>
            </a:avLst>
          </a:prstGeom>
          <a:solidFill>
            <a:srgbClr val="FFF7ED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22960" y="3913632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ADR-009: mecanismo de distribuição (MCP central, npm ou híbrido) — bloqueia a produção da Fase 0.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617720" y="3913632"/>
            <a:ext cx="3840480" cy="658368"/>
          </a:xfrm>
          <a:prstGeom prst="roundRect">
            <a:avLst>
              <a:gd name="adj" fmla="val 11111"/>
            </a:avLst>
          </a:prstGeom>
          <a:solidFill>
            <a:srgbClr val="FEF2F2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4754880" y="3913632"/>
            <a:ext cx="3520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ADR-012: documentação atual desatualizada — auditoria precede o bootstrap de qualquer skill.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 agente aprova seu próprio output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calibrados ao risco: mais leves no início, mais rigorosos no deploy. Autonomia conquistada progressivamente.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22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71600"/>
          <a:ext cx="78638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645920"/>
                <a:gridCol w="2103120"/>
                <a:gridCol w="29260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 aprova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Mecanismo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verifica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intent.md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negocial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Processo externo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Problema certo? Prioridade?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spec.md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 + policy owners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Merge após flags resolvidas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Requisitos? Compliance?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plan.md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Engenheiro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Commit explícito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Estratégia viável? Riscos?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Código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 (automático)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npm test + lint + evals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Testes, padrões, evals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Copilot + 1 humano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Aprovação no GitHub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Findings? Contexto negocial?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 prod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Release manager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Environment protection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Timing? Rollback?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Incidente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On-call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Triagem do intent.md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Root cause? Prioridade?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e backend em paralelo, sem acoplamento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ADR-011: Contratos de API + adapter pattern + feature flag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22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137160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371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12801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Spec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55448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 api-contract.md — classifica cada endpoint: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reutilizar, extensão ou novo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377440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23774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286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Build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56032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 pattern obrigatório — interface + 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impl + feature flag selector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3383280"/>
            <a:ext cx="274320" cy="27432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3383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2918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Deploy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51560" y="356616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ServiceImpl → flag desativada →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 ativo, feature oculta de usuários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63440" y="1280160"/>
            <a:ext cx="3840480" cy="2743200"/>
          </a:xfrm>
          <a:prstGeom prst="roundRect">
            <a:avLst>
              <a:gd name="adj" fmla="val 2667"/>
            </a:avLst>
          </a:prstGeom>
          <a:solidFill>
            <a:srgbClr val="1E293B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4846320" y="141732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services/payment/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PaymentService.ts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← interface (a porta)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FCD34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PaymentServiceMock.ts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← mock (dev)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6EE7B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PaymentServiceImpl.ts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← real (quando backend pronto)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index.ts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← feature flag selector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42976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Telas importam apenas a interface — nunca o mock ou impl diretamente. Troca = mudança em 1 arquivo.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Evals — testes para configuração de agentes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Mudanças em skills são deploy no escuro — sem evals (ADR-004)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22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71600"/>
            <a:ext cx="3931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20-50 tasks por agente, baseadas em casos reais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roda automaticamente quando skill ou instrução muda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Incidentes de produção viram evals permanentes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Code-based (schema, regex) + Model-based (rubrica semântica)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3200400"/>
            <a:ext cx="3931920" cy="14630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22960" y="333756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3C5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task-001-onboarding/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input/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intent.md + context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expected/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spec.md + flags.json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846320" y="1371600"/>
            <a:ext cx="3657600" cy="3291840"/>
          </a:xfrm>
          <a:prstGeom prst="roundRect">
            <a:avLst>
              <a:gd name="adj" fmla="val 2222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846320" y="164592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</a:t>
            </a:r>
            <a:endParaRPr lang="en-US" sz="72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2651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rate mínimo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029200" y="32004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Abaixo disso, o merge é bloqueado.</a:t>
            </a:r>
            <a:endParaRPr lang="en-US" sz="12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pipeline para.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0" y="38404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definido pelo tech lead —</a:t>
            </a:r>
            <a:endParaRPr lang="en-US" sz="11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reduzir exige decisão consciente.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alimenta o pipeline de volta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22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07: correlação determinística antes da análise do Copilot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22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2801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de correlação (paralelo, antes do Copilot):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691640"/>
            <a:ext cx="2514600" cy="640080"/>
          </a:xfrm>
          <a:prstGeom prst="roundRect">
            <a:avLst>
              <a:gd name="adj" fmla="val 11429"/>
            </a:avLst>
          </a:prstGeom>
          <a:solidFill>
            <a:srgbClr val="FFF7ED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77240" y="170992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MCP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198424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Crash na tela no mesmo período?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29000" y="1691640"/>
            <a:ext cx="2514600" cy="640080"/>
          </a:xfrm>
          <a:prstGeom prst="roundRect">
            <a:avLst>
              <a:gd name="adj" fmla="val 11429"/>
            </a:avLst>
          </a:prstGeom>
          <a:solidFill>
            <a:srgbClr val="EFF6FF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566160" y="170992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log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198424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recente nessa tela?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17920" y="1691640"/>
            <a:ext cx="2514600" cy="640080"/>
          </a:xfrm>
          <a:prstGeom prst="roundRect">
            <a:avLst>
              <a:gd name="adj" fmla="val 11429"/>
            </a:avLst>
          </a:prstGeom>
          <a:solidFill>
            <a:srgbClr val="F0FDF4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355080" y="170992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 release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198424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recente do bundle?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25603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Árvore de diagnóstico:</a:t>
            </a:r>
            <a:endParaRPr lang="en-US" sz="1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880360"/>
          <a:ext cx="78638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4023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Causa provável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endpoint_error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Backend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Ping API, avaliar rollback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crash_found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Bug técnico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Stacktrace disponível → intent.md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commit_recent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Regressão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Bisect candidate → notificar autor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F172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sem correlação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Silent failure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Hipótese aberta → investigação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AF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7" name="Text 14"/>
          <p:cNvSpPr txBox="1"/>
          <p:nvPr/>
        </p:nvSpPr>
        <p:spPr>
          <a:xfrm>
            <a:off x="640080" y="443484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GitHub Issue (visibilidade imediata) + PR com intent.md (entrada formal no pipeline)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estamos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7955280" y="473659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0972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Decidido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50876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15087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= Copilot Enterprise — portabilidade de skills garantida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92024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9202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Conhecimento determinístico, não RAG — evals reproduzíveis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33172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51560" y="23317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Cadeia de artefatos explícita — rastreabilidade completa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74320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27432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Evals obrigatórios por agente — pass rate ≥ 85%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315468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31546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humanos por estágio — autonomia progressiva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56616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051560" y="35661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 pattern para backend — mobile e backend em paralelo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846320" y="109728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aberto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846320" y="1554480"/>
            <a:ext cx="3657600" cy="2286000"/>
          </a:xfrm>
          <a:prstGeom prst="roundRect">
            <a:avLst>
              <a:gd name="adj" fmla="val 3200"/>
            </a:avLst>
          </a:prstGeom>
          <a:solidFill>
            <a:srgbClr val="1E293B"/>
          </a:solidFill>
          <a:ln/>
          <a:effectLst>
            <a:outerShdw sx="100000" sy="100000" kx="0" ky="0" algn="bl" rotWithShape="0" blurRad="50800" dist="25400" dir="270000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029200" y="16916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ADR-009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029200" y="20116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Distribuição de conhecimento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escala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0" y="260604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 central, pacote npm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versionado ou arquitetura híbrida?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 validação com plataforma,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e segurança.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0" y="4114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Bloqueia Fase 0 — a decisão precede a criação do conteúdo.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3" name="Num"/>
          <p:cNvSpPr txBox="1"/>
          <p:nvPr/>
        </p:nvSpPr>
        <p:spPr>
          <a:xfrm>
            <a:off x="57150" y="80000"/>
            <a:ext cx="8686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3800" b="1" dirty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4" name="Name"/>
          <p:cNvSpPr txBox="1"/>
          <p:nvPr/>
        </p:nvSpPr>
        <p:spPr>
          <a:xfrm>
            <a:off x="991800" y="91440"/>
            <a:ext cx="562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2000" b="1" dirty="0">
                <a:solidFill>
                  <a:srgbClr val="FFFFFF"/>
                </a:solidFill>
                <a:latin typeface="Calibri"/>
              </a:rPr>
              <a:t>Agente 01 — Intent</a:t>
            </a:r>
          </a:p>
        </p:txBody>
      </p:sp>
      <p:sp>
        <p:nvSpPr>
          <p:cNvPr id="5" name="Stage"/>
          <p:cNvSpPr txBox="1"/>
          <p:nvPr/>
        </p:nvSpPr>
        <p:spPr>
          <a:xfrm>
            <a:off x="6781680" y="137160"/>
            <a:ext cx="1142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FFFFFF"/>
                </a:solidFill>
                <a:latin typeface="Calibri"/>
              </a:rPr>
              <a:t>[ Plan ]</a:t>
            </a:r>
          </a:p>
        </p:txBody>
      </p:sp>
      <p:sp>
        <p:nvSpPr>
          <p:cNvPr id="6" name="Runtime"/>
          <p:cNvSpPr txBox="1"/>
          <p:nvPr/>
        </p:nvSpPr>
        <p:spPr>
          <a:xfrm>
            <a:off x="6552960" y="388080"/>
            <a:ext cx="236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780" b="0" i="1" dirty="0">
                <a:solidFill>
                  <a:srgbClr val="FFFFFF"/>
                </a:solidFill>
                <a:latin typeface="Calibri"/>
              </a:rPr>
              <a:t>Copilot + BusinessMap MCP</a:t>
            </a:r>
          </a:p>
        </p:txBody>
      </p:sp>
      <p:sp>
        <p:nvSpPr>
          <p:cNvPr id="7" name="Tag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FFFBEB"/>
          </a:solidFill>
          <a:ln/>
        </p:spPr>
      </p:sp>
      <p:sp>
        <p:nvSpPr>
          <p:cNvPr id="8" name="Tagline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algn="ctr" indent="0" marL="0">
              <a:buNone/>
            </a:pPr>
            <a:r>
              <a:rPr lang="pt-BR" sz="1150" b="0" i="1" dirty="0">
                <a:solidFill>
                  <a:srgbClr val="D97706"/>
                </a:solidFill>
                <a:latin typeface="Calibri"/>
              </a:rPr>
              <a:t>"Transforma um card do BusinessMap em intent.md em minutos. Força a articulação do problema antes de qualquer solução."</a:t>
            </a:r>
          </a:p>
        </p:txBody>
      </p:sp>
      <p:sp>
        <p:nvSpPr>
          <p:cNvPr id="9" name="ColBg"/>
          <p:cNvSpPr/>
          <p:nvPr/>
        </p:nvSpPr>
        <p:spPr>
          <a:xfrm>
            <a:off x="1146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0" name="LblBg"/>
          <p:cNvSpPr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1" name="Lbl"/>
          <p:cNvSpPr txBox="1"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80" b="1" dirty="0">
                <a:solidFill>
                  <a:srgbClr val="FFFFFF"/>
                </a:solidFill>
                <a:latin typeface="Calibri"/>
              </a:rPr>
              <a:t>ENTRADA</a:t>
            </a:r>
          </a:p>
        </p:txBody>
      </p:sp>
      <p:sp>
        <p:nvSpPr>
          <p:cNvPr id="12" name="ColContent"/>
          <p:cNvSpPr txBox="1"/>
          <p:nvPr/>
        </p:nvSpPr>
        <p:spPr>
          <a:xfrm>
            <a:off x="1146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Card do BusinessMap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— título e descrição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— tipo (feature/bug/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  improvement)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— labels e responsável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— comentários (opcional)</a:t>
            </a:r>
          </a:p>
        </p:txBody>
      </p:sp>
      <p:sp>
        <p:nvSpPr>
          <p:cNvPr id="13" name="ColBg"/>
          <p:cNvSpPr/>
          <p:nvPr/>
        </p:nvSpPr>
        <p:spPr>
          <a:xfrm>
            <a:off x="29724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4" name="LblBg"/>
          <p:cNvSpPr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5" name="Lbl"/>
          <p:cNvSpPr txBox="1"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80" b="1" dirty="0">
                <a:solidFill>
                  <a:srgbClr val="FFFFFF"/>
                </a:solidFill>
                <a:latin typeface="Calibri"/>
              </a:rPr>
              <a:t>O QUE FAZ</a:t>
            </a:r>
          </a:p>
        </p:txBody>
      </p:sp>
      <p:sp>
        <p:nvSpPr>
          <p:cNvPr id="16" name="ColContent"/>
          <p:cNvSpPr txBox="1"/>
          <p:nvPr/>
        </p:nvSpPr>
        <p:spPr>
          <a:xfrm>
            <a:off x="29724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1. Busca dados do card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via BusinessMap MCP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2. Preenche template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intent.md completo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3. Sinaliza campos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incompletos para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o PO revisar</a:t>
            </a:r>
          </a:p>
        </p:txBody>
      </p:sp>
      <p:sp>
        <p:nvSpPr>
          <p:cNvPr id="17" name="ColBg"/>
          <p:cNvSpPr/>
          <p:nvPr/>
        </p:nvSpPr>
        <p:spPr>
          <a:xfrm>
            <a:off x="58302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8" name="LblBg"/>
          <p:cNvSpPr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19" name="Lbl"/>
          <p:cNvSpPr txBox="1"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80" b="1" dirty="0">
                <a:solidFill>
                  <a:srgbClr val="FFFFFF"/>
                </a:solidFill>
                <a:latin typeface="Calibri"/>
              </a:rPr>
              <a:t>SAÍDA</a:t>
            </a:r>
          </a:p>
        </p:txBody>
      </p:sp>
      <p:sp>
        <p:nvSpPr>
          <p:cNvPr id="20" name="ColContent"/>
          <p:cNvSpPr txBox="1"/>
          <p:nvPr/>
        </p:nvSpPr>
        <p:spPr>
          <a:xfrm>
            <a:off x="58302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intent.md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— Problema declarado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— Outcome mensurável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— Sistemas afetados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— Perguntas abertas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/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Campos incompletos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listados em open_questions</a:t>
            </a:r>
          </a:p>
        </p:txBody>
      </p:sp>
      <p:sp>
        <p:nvSpPr>
          <p:cNvPr id="21" name="FooterBg"/>
          <p:cNvSpPr/>
          <p:nvPr/>
        </p:nvSpPr>
        <p:spPr>
          <a:xfrm>
            <a:off x="0" y="4389120"/>
            <a:ext cx="9144000" cy="5943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FDiv"/>
          <p:cNvSpPr/>
          <p:nvPr/>
        </p:nvSpPr>
        <p:spPr>
          <a:xfrm>
            <a:off x="4480560" y="4480560"/>
            <a:ext cx="18000" cy="41148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23" name="Gate"/>
          <p:cNvSpPr txBox="1"/>
          <p:nvPr/>
        </p:nvSpPr>
        <p:spPr>
          <a:xfrm>
            <a:off x="114600" y="4389120"/>
            <a:ext cx="432000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800" b="1" dirty="0">
                <a:solidFill>
                  <a:srgbClr val="D97706"/>
                </a:solidFill>
                <a:latin typeface="Calibri"/>
              </a:rPr>
              <a:t>GATE</a:t>
            </a:r>
          </a:p>
          <a:p>
            <a:pPr indent="0" marL="0">
              <a:buNone/>
            </a:pPr>
            <a:r>
              <a:rPr lang="pt-BR" sz="930" b="0" dirty="0">
                <a:solidFill>
                  <a:srgbClr val="334155"/>
                </a:solidFill>
                <a:latin typeface="Calibri"/>
              </a:rPr>
              <a:t>Product Owner — merge do PR = aprovação formal</a:t>
            </a:r>
          </a:p>
        </p:txBody>
      </p:sp>
      <p:sp>
        <p:nvSpPr>
          <p:cNvPr id="24" name="Muda"/>
          <p:cNvSpPr txBox="1"/>
          <p:nvPr/>
        </p:nvSpPr>
        <p:spPr>
          <a:xfrm>
            <a:off x="4571640" y="4389120"/>
            <a:ext cx="347436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800" b="1" dirty="0">
                <a:solidFill>
                  <a:srgbClr val="D97706"/>
                </a:solidFill>
                <a:latin typeface="Calibri"/>
              </a:rPr>
              <a:t>O QUE MUDA</a:t>
            </a:r>
          </a:p>
          <a:p>
            <a:pPr indent="0" marL="0">
              <a:buNone/>
            </a:pPr>
            <a:r>
              <a:rPr lang="pt-BR" sz="930" b="0" dirty="0">
                <a:solidFill>
                  <a:srgbClr val="334155"/>
                </a:solidFill>
                <a:latin typeface="Calibri"/>
              </a:rPr>
              <a:t>Fim das specs implícitas — o problema é declarado antes de qualquer solução</a:t>
            </a:r>
          </a:p>
        </p:txBody>
      </p:sp>
      <p:sp>
        <p:nvSpPr>
          <p:cNvPr id="25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06 / 22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" name="Num"/>
          <p:cNvSpPr txBox="1"/>
          <p:nvPr/>
        </p:nvSpPr>
        <p:spPr>
          <a:xfrm>
            <a:off x="57150" y="80000"/>
            <a:ext cx="8686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3800" b="1" dirty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4" name="Name"/>
          <p:cNvSpPr txBox="1"/>
          <p:nvPr/>
        </p:nvSpPr>
        <p:spPr>
          <a:xfrm>
            <a:off x="991800" y="91440"/>
            <a:ext cx="562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2000" b="1" dirty="0">
                <a:solidFill>
                  <a:srgbClr val="FFFFFF"/>
                </a:solidFill>
                <a:latin typeface="Calibri"/>
              </a:rPr>
              <a:t>Agente 02 — Spec</a:t>
            </a:r>
          </a:p>
        </p:txBody>
      </p:sp>
      <p:sp>
        <p:nvSpPr>
          <p:cNvPr id="5" name="Stage"/>
          <p:cNvSpPr txBox="1"/>
          <p:nvPr/>
        </p:nvSpPr>
        <p:spPr>
          <a:xfrm>
            <a:off x="6781680" y="137160"/>
            <a:ext cx="1142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FFFFFF"/>
                </a:solidFill>
                <a:latin typeface="Calibri"/>
              </a:rPr>
              <a:t>[ Design ]</a:t>
            </a:r>
          </a:p>
        </p:txBody>
      </p:sp>
      <p:sp>
        <p:nvSpPr>
          <p:cNvPr id="6" name="Runtime"/>
          <p:cNvSpPr txBox="1"/>
          <p:nvPr/>
        </p:nvSpPr>
        <p:spPr>
          <a:xfrm>
            <a:off x="6552960" y="388080"/>
            <a:ext cx="236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780" b="0" i="1" dirty="0">
                <a:solidFill>
                  <a:srgbClr val="FFFFFF"/>
                </a:solidFill>
                <a:latin typeface="Calibri"/>
              </a:rPr>
              <a:t>Copilot + MCP (security, BBDS, standards)</a:t>
            </a:r>
          </a:p>
        </p:txBody>
      </p:sp>
      <p:sp>
        <p:nvSpPr>
          <p:cNvPr id="7" name="Tag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F5F3FF"/>
          </a:solidFill>
          <a:ln/>
        </p:spPr>
      </p:sp>
      <p:sp>
        <p:nvSpPr>
          <p:cNvPr id="8" name="Tagline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algn="ctr" indent="0" marL="0">
              <a:buNone/>
            </a:pPr>
            <a:r>
              <a:rPr lang="pt-BR" sz="1150" b="0" i="1" dirty="0">
                <a:solidFill>
                  <a:srgbClr val="7C3AED"/>
                </a:solidFill>
                <a:latin typeface="Calibri"/>
              </a:rPr>
              <a:t>"Gera spec técnica completa com políticas aplicadas durante a geração — não descobertas em revisão semanas depois."</a:t>
            </a:r>
          </a:p>
        </p:txBody>
      </p:sp>
      <p:sp>
        <p:nvSpPr>
          <p:cNvPr id="9" name="ColBg"/>
          <p:cNvSpPr/>
          <p:nvPr/>
        </p:nvSpPr>
        <p:spPr>
          <a:xfrm>
            <a:off x="1146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0" name="LblBg"/>
          <p:cNvSpPr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1" name="Lbl"/>
          <p:cNvSpPr txBox="1"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80" b="1" dirty="0">
                <a:solidFill>
                  <a:srgbClr val="FFFFFF"/>
                </a:solidFill>
                <a:latin typeface="Calibri"/>
              </a:rPr>
              <a:t>ENTRADA</a:t>
            </a:r>
          </a:p>
        </p:txBody>
      </p:sp>
      <p:sp>
        <p:nvSpPr>
          <p:cNvPr id="12" name="ColContent"/>
          <p:cNvSpPr txBox="1"/>
          <p:nvPr/>
        </p:nvSpPr>
        <p:spPr>
          <a:xfrm>
            <a:off x="1146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intent.md aprovado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Protótipo Figma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(referência de telas)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Contexto MCP injetado: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security, BBDS UX,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platform-standards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Catálogo de serviços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(quando disponível)</a:t>
            </a:r>
          </a:p>
        </p:txBody>
      </p:sp>
      <p:sp>
        <p:nvSpPr>
          <p:cNvPr id="13" name="ColBg"/>
          <p:cNvSpPr/>
          <p:nvPr/>
        </p:nvSpPr>
        <p:spPr>
          <a:xfrm>
            <a:off x="29724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4" name="LblBg"/>
          <p:cNvSpPr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5" name="Lbl"/>
          <p:cNvSpPr txBox="1"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80" b="1" dirty="0">
                <a:solidFill>
                  <a:srgbClr val="FFFFFF"/>
                </a:solidFill>
                <a:latin typeface="Calibri"/>
              </a:rPr>
              <a:t>O QUE FAZ</a:t>
            </a:r>
          </a:p>
        </p:txBody>
      </p:sp>
      <p:sp>
        <p:nvSpPr>
          <p:cNvPr id="16" name="ColContent"/>
          <p:cNvSpPr txBox="1"/>
          <p:nvPr/>
        </p:nvSpPr>
        <p:spPr>
          <a:xfrm>
            <a:off x="29724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1. Injeta políticas via MCP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2. Gera RF com critérios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de aceitação verificáveis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3. Mapeia componentes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BBDS por tela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4. Classifica endpoints: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reutilizar / extensão /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novo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5. Levanta flags 🔴/🟡</a:t>
            </a:r>
          </a:p>
        </p:txBody>
      </p:sp>
      <p:sp>
        <p:nvSpPr>
          <p:cNvPr id="17" name="ColBg"/>
          <p:cNvSpPr/>
          <p:nvPr/>
        </p:nvSpPr>
        <p:spPr>
          <a:xfrm>
            <a:off x="58302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8" name="LblBg"/>
          <p:cNvSpPr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9" name="Lbl"/>
          <p:cNvSpPr txBox="1"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80" b="1" dirty="0">
                <a:solidFill>
                  <a:srgbClr val="FFFFFF"/>
                </a:solidFill>
                <a:latin typeface="Calibri"/>
              </a:rPr>
              <a:t>SAÍDA</a:t>
            </a:r>
          </a:p>
        </p:txBody>
      </p:sp>
      <p:sp>
        <p:nvSpPr>
          <p:cNvPr id="20" name="ColContent"/>
          <p:cNvSpPr txBox="1"/>
          <p:nvPr/>
        </p:nvSpPr>
        <p:spPr>
          <a:xfrm>
            <a:off x="58302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spec.md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— RF + critérios AC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— Mapeamento BBDS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— Flags 🔴 bloqueantes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— Flags 🟡 de risco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api-contract.md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— Endpoints classificados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— Contratos de API</a:t>
            </a:r>
          </a:p>
        </p:txBody>
      </p:sp>
      <p:sp>
        <p:nvSpPr>
          <p:cNvPr id="21" name="FooterBg"/>
          <p:cNvSpPr/>
          <p:nvPr/>
        </p:nvSpPr>
        <p:spPr>
          <a:xfrm>
            <a:off x="0" y="4389120"/>
            <a:ext cx="9144000" cy="5943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FDiv"/>
          <p:cNvSpPr/>
          <p:nvPr/>
        </p:nvSpPr>
        <p:spPr>
          <a:xfrm>
            <a:off x="4480560" y="4480560"/>
            <a:ext cx="18000" cy="41148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23" name="Gate"/>
          <p:cNvSpPr txBox="1"/>
          <p:nvPr/>
        </p:nvSpPr>
        <p:spPr>
          <a:xfrm>
            <a:off x="114600" y="4389120"/>
            <a:ext cx="432000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800" b="1" dirty="0">
                <a:solidFill>
                  <a:srgbClr val="7C3AED"/>
                </a:solidFill>
                <a:latin typeface="Calibri"/>
              </a:rPr>
              <a:t>GATE</a:t>
            </a:r>
          </a:p>
          <a:p>
            <a:pPr indent="0" marL="0">
              <a:buNone/>
            </a:pPr>
            <a:r>
              <a:rPr lang="pt-BR" sz="930" b="0" dirty="0">
                <a:solidFill>
                  <a:srgbClr val="334155"/>
                </a:solidFill>
                <a:latin typeface="Calibri"/>
              </a:rPr>
              <a:t>PO + Policy Owners — todas as flags 🔴 resolvidas antes do merge</a:t>
            </a:r>
          </a:p>
        </p:txBody>
      </p:sp>
      <p:sp>
        <p:nvSpPr>
          <p:cNvPr id="24" name="Muda"/>
          <p:cNvSpPr txBox="1"/>
          <p:nvPr/>
        </p:nvSpPr>
        <p:spPr>
          <a:xfrm>
            <a:off x="4571640" y="4389120"/>
            <a:ext cx="347436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800" b="1" dirty="0">
                <a:solidFill>
                  <a:srgbClr val="7C3AED"/>
                </a:solidFill>
                <a:latin typeface="Calibri"/>
              </a:rPr>
              <a:t>O QUE MUDA</a:t>
            </a:r>
          </a:p>
          <a:p>
            <a:pPr indent="0" marL="0">
              <a:buNone/>
            </a:pPr>
            <a:r>
              <a:rPr lang="pt-BR" sz="930" b="0" dirty="0">
                <a:solidFill>
                  <a:srgbClr val="334155"/>
                </a:solidFill>
                <a:latin typeface="Calibri"/>
              </a:rPr>
              <a:t>Políticas de segurança e compliance aplicadas na geração, não descobertas no code review</a:t>
            </a:r>
          </a:p>
        </p:txBody>
      </p:sp>
      <p:sp>
        <p:nvSpPr>
          <p:cNvPr id="25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07 / 22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Num"/>
          <p:cNvSpPr txBox="1"/>
          <p:nvPr/>
        </p:nvSpPr>
        <p:spPr>
          <a:xfrm>
            <a:off x="57150" y="80000"/>
            <a:ext cx="8686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3800" b="1" dirty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4" name="Name"/>
          <p:cNvSpPr txBox="1"/>
          <p:nvPr/>
        </p:nvSpPr>
        <p:spPr>
          <a:xfrm>
            <a:off x="991800" y="91440"/>
            <a:ext cx="562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2000" b="1" dirty="0">
                <a:solidFill>
                  <a:srgbClr val="FFFFFF"/>
                </a:solidFill>
                <a:latin typeface="Calibri"/>
              </a:rPr>
              <a:t>Agente 03 — Plan</a:t>
            </a:r>
          </a:p>
        </p:txBody>
      </p:sp>
      <p:sp>
        <p:nvSpPr>
          <p:cNvPr id="5" name="Stage"/>
          <p:cNvSpPr txBox="1"/>
          <p:nvPr/>
        </p:nvSpPr>
        <p:spPr>
          <a:xfrm>
            <a:off x="6781680" y="137160"/>
            <a:ext cx="1142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FFFFFF"/>
                </a:solidFill>
                <a:latin typeface="Calibri"/>
              </a:rPr>
              <a:t>[ Planning ]</a:t>
            </a:r>
          </a:p>
        </p:txBody>
      </p:sp>
      <p:sp>
        <p:nvSpPr>
          <p:cNvPr id="6" name="Runtime"/>
          <p:cNvSpPr txBox="1"/>
          <p:nvPr/>
        </p:nvSpPr>
        <p:spPr>
          <a:xfrm>
            <a:off x="6552960" y="388080"/>
            <a:ext cx="236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780" b="0" i="1" dirty="0">
                <a:solidFill>
                  <a:srgbClr val="FFFFFF"/>
                </a:solidFill>
                <a:latin typeface="Calibri"/>
              </a:rPr>
              <a:t>Copilot Plan Mode</a:t>
            </a:r>
          </a:p>
        </p:txBody>
      </p:sp>
      <p:sp>
        <p:nvSpPr>
          <p:cNvPr id="7" name="Tag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ECFEFF"/>
          </a:solidFill>
          <a:ln/>
        </p:spPr>
      </p:sp>
      <p:sp>
        <p:nvSpPr>
          <p:cNvPr id="8" name="Tagline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algn="ctr" indent="0" marL="0">
              <a:buNone/>
            </a:pPr>
            <a:r>
              <a:rPr lang="pt-BR" sz="1150" b="0" i="1" dirty="0">
                <a:solidFill>
                  <a:srgbClr val="0891B2"/>
                </a:solidFill>
                <a:latin typeface="Calibri"/>
              </a:rPr>
              <a:t>"Transforma spec.md em plano concreto: arquivos que mudam, ordem de trabalho e riscos. Nenhuma implementação começa sem plano escrito."</a:t>
            </a:r>
          </a:p>
        </p:txBody>
      </p:sp>
      <p:sp>
        <p:nvSpPr>
          <p:cNvPr id="9" name="ColBg"/>
          <p:cNvSpPr/>
          <p:nvPr/>
        </p:nvSpPr>
        <p:spPr>
          <a:xfrm>
            <a:off x="1146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0" name="LblBg"/>
          <p:cNvSpPr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1" name="Lbl"/>
          <p:cNvSpPr txBox="1"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80" b="1" dirty="0">
                <a:solidFill>
                  <a:srgbClr val="FFFFFF"/>
                </a:solidFill>
                <a:latin typeface="Calibri"/>
              </a:rPr>
              <a:t>ENTRADA</a:t>
            </a:r>
          </a:p>
        </p:txBody>
      </p:sp>
      <p:sp>
        <p:nvSpPr>
          <p:cNvPr id="12" name="ColContent"/>
          <p:cNvSpPr txBox="1"/>
          <p:nvPr/>
        </p:nvSpPr>
        <p:spPr>
          <a:xfrm>
            <a:off x="1146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spec.md aprovado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api-contract.md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copilot-instructions.md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do bundle (contexto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do repo, padrões,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anti-patterns,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dependências)</a:t>
            </a:r>
          </a:p>
        </p:txBody>
      </p:sp>
      <p:sp>
        <p:nvSpPr>
          <p:cNvPr id="13" name="ColBg"/>
          <p:cNvSpPr/>
          <p:nvPr/>
        </p:nvSpPr>
        <p:spPr>
          <a:xfrm>
            <a:off x="29724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4" name="LblBg"/>
          <p:cNvSpPr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5" name="Lbl"/>
          <p:cNvSpPr txBox="1"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80" b="1" dirty="0">
                <a:solidFill>
                  <a:srgbClr val="FFFFFF"/>
                </a:solidFill>
                <a:latin typeface="Calibri"/>
              </a:rPr>
              <a:t>O QUE FAZ</a:t>
            </a:r>
          </a:p>
        </p:txBody>
      </p:sp>
      <p:sp>
        <p:nvSpPr>
          <p:cNvPr id="16" name="ColContent"/>
          <p:cNvSpPr txBox="1"/>
          <p:nvPr/>
        </p:nvSpPr>
        <p:spPr>
          <a:xfrm>
            <a:off x="29724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1. Analisa repo em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Plan Mode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2. Lista arquivos que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mudam + ordem com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dependências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3. Planeja adapters por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endpoint do contrato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4. Identifica riscos e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estratégia de testes</a:t>
            </a:r>
          </a:p>
        </p:txBody>
      </p:sp>
      <p:sp>
        <p:nvSpPr>
          <p:cNvPr id="17" name="ColBg"/>
          <p:cNvSpPr/>
          <p:nvPr/>
        </p:nvSpPr>
        <p:spPr>
          <a:xfrm>
            <a:off x="58302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8" name="LblBg"/>
          <p:cNvSpPr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9" name="Lbl"/>
          <p:cNvSpPr txBox="1"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80" b="1" dirty="0">
                <a:solidFill>
                  <a:srgbClr val="FFFFFF"/>
                </a:solidFill>
                <a:latin typeface="Calibri"/>
              </a:rPr>
              <a:t>SAÍDA</a:t>
            </a:r>
          </a:p>
        </p:txBody>
      </p:sp>
      <p:sp>
        <p:nvSpPr>
          <p:cNvPr id="20" name="ColContent"/>
          <p:cNvSpPr txBox="1"/>
          <p:nvPr/>
        </p:nvSpPr>
        <p:spPr>
          <a:xfrm>
            <a:off x="58302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plan.md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— Arquivos criados /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  modificados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— Ordem de trabalho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— Adapters planejados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— Riscos identificados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— Critérios de pronto</a:t>
            </a:r>
          </a:p>
        </p:txBody>
      </p:sp>
      <p:sp>
        <p:nvSpPr>
          <p:cNvPr id="21" name="FooterBg"/>
          <p:cNvSpPr/>
          <p:nvPr/>
        </p:nvSpPr>
        <p:spPr>
          <a:xfrm>
            <a:off x="0" y="4389120"/>
            <a:ext cx="9144000" cy="5943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FDiv"/>
          <p:cNvSpPr/>
          <p:nvPr/>
        </p:nvSpPr>
        <p:spPr>
          <a:xfrm>
            <a:off x="4480560" y="4480560"/>
            <a:ext cx="18000" cy="41148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23" name="Gate"/>
          <p:cNvSpPr txBox="1"/>
          <p:nvPr/>
        </p:nvSpPr>
        <p:spPr>
          <a:xfrm>
            <a:off x="114600" y="4389120"/>
            <a:ext cx="432000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800" b="1" dirty="0">
                <a:solidFill>
                  <a:srgbClr val="0891B2"/>
                </a:solidFill>
                <a:latin typeface="Calibri"/>
              </a:rPr>
              <a:t>GATE</a:t>
            </a:r>
          </a:p>
          <a:p>
            <a:pPr indent="0" marL="0">
              <a:buNone/>
            </a:pPr>
            <a:r>
              <a:rPr lang="pt-BR" sz="930" b="0" dirty="0">
                <a:solidFill>
                  <a:srgbClr val="334155"/>
                </a:solidFill>
                <a:latin typeface="Calibri"/>
              </a:rPr>
              <a:t>Engenheiro — commit do plan.md (CI bloqueia qualquer PR sem o arquivo)</a:t>
            </a:r>
          </a:p>
        </p:txBody>
      </p:sp>
      <p:sp>
        <p:nvSpPr>
          <p:cNvPr id="24" name="Muda"/>
          <p:cNvSpPr txBox="1"/>
          <p:nvPr/>
        </p:nvSpPr>
        <p:spPr>
          <a:xfrm>
            <a:off x="4571640" y="4389120"/>
            <a:ext cx="347436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800" b="1" dirty="0">
                <a:solidFill>
                  <a:srgbClr val="0891B2"/>
                </a:solidFill>
                <a:latin typeface="Calibri"/>
              </a:rPr>
              <a:t>O QUE MUDA</a:t>
            </a:r>
          </a:p>
          <a:p>
            <a:pPr indent="0" marL="0">
              <a:buNone/>
            </a:pPr>
            <a:r>
              <a:rPr lang="pt-BR" sz="930" b="0" dirty="0">
                <a:solidFill>
                  <a:srgbClr val="334155"/>
                </a:solidFill>
                <a:latin typeface="Calibri"/>
              </a:rPr>
              <a:t>Planejamento sai da cabeça do dev e entra no repositório como artefato revisável</a:t>
            </a:r>
          </a:p>
        </p:txBody>
      </p:sp>
      <p:sp>
        <p:nvSpPr>
          <p:cNvPr id="25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08 / 22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3" name="Num"/>
          <p:cNvSpPr txBox="1"/>
          <p:nvPr/>
        </p:nvSpPr>
        <p:spPr>
          <a:xfrm>
            <a:off x="57150" y="80000"/>
            <a:ext cx="8686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3800" b="1" dirty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4" name="Name"/>
          <p:cNvSpPr txBox="1"/>
          <p:nvPr/>
        </p:nvSpPr>
        <p:spPr>
          <a:xfrm>
            <a:off x="991800" y="91440"/>
            <a:ext cx="562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2000" b="1" dirty="0">
                <a:solidFill>
                  <a:srgbClr val="FFFFFF"/>
                </a:solidFill>
                <a:latin typeface="Calibri"/>
              </a:rPr>
              <a:t>Agente 04 — Build</a:t>
            </a:r>
          </a:p>
        </p:txBody>
      </p:sp>
      <p:sp>
        <p:nvSpPr>
          <p:cNvPr id="5" name="Stage"/>
          <p:cNvSpPr txBox="1"/>
          <p:nvPr/>
        </p:nvSpPr>
        <p:spPr>
          <a:xfrm>
            <a:off x="6781680" y="137160"/>
            <a:ext cx="1142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FFFFFF"/>
                </a:solidFill>
                <a:latin typeface="Calibri"/>
              </a:rPr>
              <a:t>[ Build ]</a:t>
            </a:r>
          </a:p>
        </p:txBody>
      </p:sp>
      <p:sp>
        <p:nvSpPr>
          <p:cNvPr id="6" name="Runtime"/>
          <p:cNvSpPr txBox="1"/>
          <p:nvPr/>
        </p:nvSpPr>
        <p:spPr>
          <a:xfrm>
            <a:off x="6552960" y="388080"/>
            <a:ext cx="236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780" b="0" i="1" dirty="0">
                <a:solidFill>
                  <a:srgbClr val="FFFFFF"/>
                </a:solidFill>
                <a:latin typeface="Calibri"/>
              </a:rPr>
              <a:t>Copilot Edits + figma-to-code</a:t>
            </a:r>
          </a:p>
        </p:txBody>
      </p:sp>
      <p:sp>
        <p:nvSpPr>
          <p:cNvPr id="7" name="Tag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ECFDF5"/>
          </a:solidFill>
          <a:ln/>
        </p:spPr>
      </p:sp>
      <p:sp>
        <p:nvSpPr>
          <p:cNvPr id="8" name="Tagline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algn="ctr" indent="0" marL="0">
              <a:buNone/>
            </a:pPr>
            <a:r>
              <a:rPr lang="pt-BR" sz="1150" b="0" i="1" dirty="0">
                <a:solidFill>
                  <a:srgbClr val="059669"/>
                </a:solidFill>
                <a:latin typeface="Calibri"/>
              </a:rPr>
              <a:t>"Implementa o plan.md com a API correta do BBDS, validada automaticamente. Props obsoletas detectadas antes do código ser escrito."</a:t>
            </a:r>
          </a:p>
        </p:txBody>
      </p:sp>
      <p:sp>
        <p:nvSpPr>
          <p:cNvPr id="9" name="ColBg"/>
          <p:cNvSpPr/>
          <p:nvPr/>
        </p:nvSpPr>
        <p:spPr>
          <a:xfrm>
            <a:off x="1146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0" name="LblBg"/>
          <p:cNvSpPr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1" name="Lbl"/>
          <p:cNvSpPr txBox="1"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80" b="1" dirty="0">
                <a:solidFill>
                  <a:srgbClr val="FFFFFF"/>
                </a:solidFill>
                <a:latin typeface="Calibri"/>
              </a:rPr>
              <a:t>ENTRADA</a:t>
            </a:r>
          </a:p>
        </p:txBody>
      </p:sp>
      <p:sp>
        <p:nvSpPr>
          <p:cNvPr id="12" name="ColContent"/>
          <p:cNvSpPr txBox="1"/>
          <p:nvPr/>
        </p:nvSpPr>
        <p:spPr>
          <a:xfrm>
            <a:off x="1146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plan.md (roteiro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sequencial)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Telas do Figma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api-contract.md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bbds-api-reference.md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(auto-gerado em CI,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sempre atualizado)</a:t>
            </a:r>
          </a:p>
        </p:txBody>
      </p:sp>
      <p:sp>
        <p:nvSpPr>
          <p:cNvPr id="13" name="ColBg"/>
          <p:cNvSpPr/>
          <p:nvPr/>
        </p:nvSpPr>
        <p:spPr>
          <a:xfrm>
            <a:off x="29724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4" name="LblBg"/>
          <p:cNvSpPr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5" name="Lbl"/>
          <p:cNvSpPr txBox="1"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80" b="1" dirty="0">
                <a:solidFill>
                  <a:srgbClr val="FFFFFF"/>
                </a:solidFill>
                <a:latin typeface="Calibri"/>
              </a:rPr>
              <a:t>O QUE FAZ</a:t>
            </a:r>
          </a:p>
        </p:txBody>
      </p:sp>
      <p:sp>
        <p:nvSpPr>
          <p:cNvPr id="16" name="ColContent"/>
          <p:cNvSpPr txBox="1"/>
          <p:nvPr/>
        </p:nvSpPr>
        <p:spPr>
          <a:xfrm>
            <a:off x="29724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1. Segue plan.md item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a item via Copilot Edits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2. figma-to-code cruza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cada elemento UI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contra API BBDS atual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3. Cria adapters com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interface + mock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(feature flag off)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4. Gera testes conforme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estratégia do plan</a:t>
            </a:r>
          </a:p>
        </p:txBody>
      </p:sp>
      <p:sp>
        <p:nvSpPr>
          <p:cNvPr id="17" name="ColBg"/>
          <p:cNvSpPr/>
          <p:nvPr/>
        </p:nvSpPr>
        <p:spPr>
          <a:xfrm>
            <a:off x="58302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8" name="LblBg"/>
          <p:cNvSpPr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9" name="Lbl"/>
          <p:cNvSpPr txBox="1"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80" b="1" dirty="0">
                <a:solidFill>
                  <a:srgbClr val="FFFFFF"/>
                </a:solidFill>
                <a:latin typeface="Calibri"/>
              </a:rPr>
              <a:t>SAÍDA</a:t>
            </a:r>
          </a:p>
        </p:txBody>
      </p:sp>
      <p:sp>
        <p:nvSpPr>
          <p:cNvPr id="20" name="ColContent"/>
          <p:cNvSpPr txBox="1"/>
          <p:nvPr/>
        </p:nvSpPr>
        <p:spPr>
          <a:xfrm>
            <a:off x="58302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Código implementado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Adapters de backend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(interface + mock,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feature flag desligada)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Testes unitários e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de integração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PR pronto para review</a:t>
            </a:r>
          </a:p>
        </p:txBody>
      </p:sp>
      <p:sp>
        <p:nvSpPr>
          <p:cNvPr id="21" name="FooterBg"/>
          <p:cNvSpPr/>
          <p:nvPr/>
        </p:nvSpPr>
        <p:spPr>
          <a:xfrm>
            <a:off x="0" y="4389120"/>
            <a:ext cx="9144000" cy="5943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FDiv"/>
          <p:cNvSpPr/>
          <p:nvPr/>
        </p:nvSpPr>
        <p:spPr>
          <a:xfrm>
            <a:off x="4480560" y="4480560"/>
            <a:ext cx="18000" cy="41148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23" name="Gate"/>
          <p:cNvSpPr txBox="1"/>
          <p:nvPr/>
        </p:nvSpPr>
        <p:spPr>
          <a:xfrm>
            <a:off x="114600" y="4389120"/>
            <a:ext cx="432000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800" b="1" dirty="0">
                <a:solidFill>
                  <a:srgbClr val="059669"/>
                </a:solidFill>
                <a:latin typeface="Calibri"/>
              </a:rPr>
              <a:t>GATE</a:t>
            </a:r>
          </a:p>
          <a:p>
            <a:pPr indent="0" marL="0">
              <a:buNone/>
            </a:pPr>
            <a:r>
              <a:rPr lang="pt-BR" sz="930" b="0" dirty="0">
                <a:solidFill>
                  <a:srgbClr val="334155"/>
                </a:solidFill>
                <a:latin typeface="Calibri"/>
              </a:rPr>
              <a:t>CI green — testes + lint + validação BBDS automática</a:t>
            </a:r>
          </a:p>
        </p:txBody>
      </p:sp>
      <p:sp>
        <p:nvSpPr>
          <p:cNvPr id="24" name="Muda"/>
          <p:cNvSpPr txBox="1"/>
          <p:nvPr/>
        </p:nvSpPr>
        <p:spPr>
          <a:xfrm>
            <a:off x="4571640" y="4389120"/>
            <a:ext cx="347436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800" b="1" dirty="0">
                <a:solidFill>
                  <a:srgbClr val="059669"/>
                </a:solidFill>
                <a:latin typeface="Calibri"/>
              </a:rPr>
              <a:t>O QUE MUDA</a:t>
            </a:r>
          </a:p>
          <a:p>
            <a:pPr indent="0" marL="0">
              <a:buNone/>
            </a:pPr>
            <a:r>
              <a:rPr lang="pt-BR" sz="930" b="0" dirty="0">
                <a:solidFill>
                  <a:srgbClr val="334155"/>
                </a:solidFill>
                <a:latin typeface="Calibri"/>
              </a:rPr>
              <a:t>API BBDS sempre atualizada no contexto — props obsoletas detectadas antes de codar</a:t>
            </a:r>
          </a:p>
        </p:txBody>
      </p:sp>
      <p:sp>
        <p:nvSpPr>
          <p:cNvPr id="25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09 / 22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" name="Num"/>
          <p:cNvSpPr txBox="1"/>
          <p:nvPr/>
        </p:nvSpPr>
        <p:spPr>
          <a:xfrm>
            <a:off x="57150" y="80000"/>
            <a:ext cx="8686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3800" b="1" dirty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4" name="Name"/>
          <p:cNvSpPr txBox="1"/>
          <p:nvPr/>
        </p:nvSpPr>
        <p:spPr>
          <a:xfrm>
            <a:off x="991800" y="91440"/>
            <a:ext cx="562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2000" b="1" dirty="0">
                <a:solidFill>
                  <a:srgbClr val="FFFFFF"/>
                </a:solidFill>
                <a:latin typeface="Calibri"/>
              </a:rPr>
              <a:t>Agente 05 — Test</a:t>
            </a:r>
          </a:p>
          <a:p>
            <a:pPr indent="0" marL="0">
              <a:buNone/>
            </a:pPr>
            <a:r>
              <a:rPr lang="pt-BR" sz="1000" b="0" i="1" dirty="0">
                <a:solidFill>
                  <a:srgbClr val="FFFFFF"/>
                </a:solidFill>
                <a:latin typeface="Calibri"/>
              </a:rPr>
              <a:t>Modo 1 — Análise de falha de CI em PRs</a:t>
            </a:r>
          </a:p>
        </p:txBody>
      </p:sp>
      <p:sp>
        <p:nvSpPr>
          <p:cNvPr id="5" name="Stage"/>
          <p:cNvSpPr txBox="1"/>
          <p:nvPr/>
        </p:nvSpPr>
        <p:spPr>
          <a:xfrm>
            <a:off x="6781680" y="137160"/>
            <a:ext cx="1142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FFFFFF"/>
                </a:solidFill>
                <a:latin typeface="Calibri"/>
              </a:rPr>
              <a:t>[ Test ]</a:t>
            </a:r>
          </a:p>
        </p:txBody>
      </p:sp>
      <p:sp>
        <p:nvSpPr>
          <p:cNvPr id="6" name="Runtime"/>
          <p:cNvSpPr txBox="1"/>
          <p:nvPr/>
        </p:nvSpPr>
        <p:spPr>
          <a:xfrm>
            <a:off x="6552960" y="388080"/>
            <a:ext cx="236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780" b="0" i="1" dirty="0">
                <a:solidFill>
                  <a:srgbClr val="FFFFFF"/>
                </a:solidFill>
                <a:latin typeface="Calibri"/>
              </a:rPr>
              <a:t>Copilot API + GitHub Actions</a:t>
            </a:r>
          </a:p>
        </p:txBody>
      </p:sp>
      <p:sp>
        <p:nvSpPr>
          <p:cNvPr id="7" name="Tag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FEF2F2"/>
          </a:solidFill>
          <a:ln/>
        </p:spPr>
      </p:sp>
      <p:sp>
        <p:nvSpPr>
          <p:cNvPr id="8" name="Tagline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algn="ctr" indent="0" marL="0">
              <a:buNone/>
            </a:pPr>
            <a:r>
              <a:rPr lang="pt-BR" sz="1150" b="0" i="1" dirty="0">
                <a:solidFill>
                  <a:srgbClr val="DC2626"/>
                </a:solidFill>
                <a:latin typeface="Calibri"/>
              </a:rPr>
              <a:t>"Detecta CI em falha e posta diagnóstico + sugestão de fix diretamente no PR, em menos de 5 minutos."</a:t>
            </a:r>
          </a:p>
        </p:txBody>
      </p:sp>
      <p:sp>
        <p:nvSpPr>
          <p:cNvPr id="9" name="ColBg"/>
          <p:cNvSpPr/>
          <p:nvPr/>
        </p:nvSpPr>
        <p:spPr>
          <a:xfrm>
            <a:off x="1146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0" name="LblBg"/>
          <p:cNvSpPr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1" name="Lbl"/>
          <p:cNvSpPr txBox="1"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80" b="1" dirty="0">
                <a:solidFill>
                  <a:srgbClr val="FFFFFF"/>
                </a:solidFill>
                <a:latin typeface="Calibri"/>
              </a:rPr>
              <a:t>ENTRADA</a:t>
            </a:r>
          </a:p>
        </p:txBody>
      </p:sp>
      <p:sp>
        <p:nvSpPr>
          <p:cNvPr id="12" name="ColContent"/>
          <p:cNvSpPr txBox="1"/>
          <p:nvPr/>
        </p:nvSpPr>
        <p:spPr>
          <a:xfrm>
            <a:off x="1146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Log de CI em falha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(qualquer PR do repo)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Código do PR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(git diff origin/main)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copilot-instructions.md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do bundle</a:t>
            </a:r>
          </a:p>
        </p:txBody>
      </p:sp>
      <p:sp>
        <p:nvSpPr>
          <p:cNvPr id="13" name="ColBg"/>
          <p:cNvSpPr/>
          <p:nvPr/>
        </p:nvSpPr>
        <p:spPr>
          <a:xfrm>
            <a:off x="29724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4" name="LblBg"/>
          <p:cNvSpPr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Lbl"/>
          <p:cNvSpPr txBox="1"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80" b="1" dirty="0">
                <a:solidFill>
                  <a:srgbClr val="FFFFFF"/>
                </a:solidFill>
                <a:latin typeface="Calibri"/>
              </a:rPr>
              <a:t>O QUE FAZ</a:t>
            </a:r>
          </a:p>
        </p:txBody>
      </p:sp>
      <p:sp>
        <p:nvSpPr>
          <p:cNvPr id="16" name="ColContent"/>
          <p:cNvSpPr txBox="1"/>
          <p:nvPr/>
        </p:nvSpPr>
        <p:spPr>
          <a:xfrm>
            <a:off x="29724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1. Detecta CI em falha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no PR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2. Analisa log + código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do PR correlacionados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3. Formula diagnóstico: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causa raiz + arquivo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+ linha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4. Posta comentário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automático no PR</a:t>
            </a:r>
          </a:p>
        </p:txBody>
      </p:sp>
      <p:sp>
        <p:nvSpPr>
          <p:cNvPr id="17" name="ColBg"/>
          <p:cNvSpPr/>
          <p:nvPr/>
        </p:nvSpPr>
        <p:spPr>
          <a:xfrm>
            <a:off x="58302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8" name="LblBg"/>
          <p:cNvSpPr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9" name="Lbl"/>
          <p:cNvSpPr txBox="1"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80" b="1" dirty="0">
                <a:solidFill>
                  <a:srgbClr val="FFFFFF"/>
                </a:solidFill>
                <a:latin typeface="Calibri"/>
              </a:rPr>
              <a:t>SAÍDA</a:t>
            </a:r>
          </a:p>
        </p:txBody>
      </p:sp>
      <p:sp>
        <p:nvSpPr>
          <p:cNvPr id="20" name="ColContent"/>
          <p:cNvSpPr txBox="1"/>
          <p:nvPr/>
        </p:nvSpPr>
        <p:spPr>
          <a:xfrm>
            <a:off x="58302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Comentário no PR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— Falha identificada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— Arquivo e linha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— Causa provável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— Sugestão de fix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  (código pronto)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— Nível de confiança</a:t>
            </a:r>
          </a:p>
        </p:txBody>
      </p:sp>
      <p:sp>
        <p:nvSpPr>
          <p:cNvPr id="21" name="FooterBg"/>
          <p:cNvSpPr/>
          <p:nvPr/>
        </p:nvSpPr>
        <p:spPr>
          <a:xfrm>
            <a:off x="0" y="4389120"/>
            <a:ext cx="9144000" cy="5943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FDiv"/>
          <p:cNvSpPr/>
          <p:nvPr/>
        </p:nvSpPr>
        <p:spPr>
          <a:xfrm>
            <a:off x="4480560" y="4480560"/>
            <a:ext cx="18000" cy="41148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23" name="Gate"/>
          <p:cNvSpPr txBox="1"/>
          <p:nvPr/>
        </p:nvSpPr>
        <p:spPr>
          <a:xfrm>
            <a:off x="114600" y="4389120"/>
            <a:ext cx="432000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800" b="1" dirty="0">
                <a:solidFill>
                  <a:srgbClr val="DC2626"/>
                </a:solidFill>
                <a:latin typeface="Calibri"/>
              </a:rPr>
              <a:t>GATE</a:t>
            </a:r>
          </a:p>
          <a:p>
            <a:pPr indent="0" marL="0">
              <a:buNone/>
            </a:pPr>
            <a:r>
              <a:rPr lang="pt-BR" sz="930" b="0" dirty="0">
                <a:solidFill>
                  <a:srgbClr val="334155"/>
                </a:solidFill>
                <a:latin typeface="Calibri"/>
              </a:rPr>
              <a:t>Dev revisa a sugestão e decide se aplica — decisão sempre humana</a:t>
            </a:r>
          </a:p>
        </p:txBody>
      </p:sp>
      <p:sp>
        <p:nvSpPr>
          <p:cNvPr id="24" name="Muda"/>
          <p:cNvSpPr txBox="1"/>
          <p:nvPr/>
        </p:nvSpPr>
        <p:spPr>
          <a:xfrm>
            <a:off x="4571640" y="4389120"/>
            <a:ext cx="347436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800" b="1" dirty="0">
                <a:solidFill>
                  <a:srgbClr val="DC2626"/>
                </a:solidFill>
                <a:latin typeface="Calibri"/>
              </a:rPr>
              <a:t>O QUE MUDA</a:t>
            </a:r>
          </a:p>
          <a:p>
            <a:pPr indent="0" marL="0">
              <a:buNone/>
            </a:pPr>
            <a:r>
              <a:rPr lang="pt-BR" sz="930" b="0" dirty="0">
                <a:solidFill>
                  <a:srgbClr val="334155"/>
                </a:solidFill>
                <a:latin typeface="Calibri"/>
              </a:rPr>
              <a:t>Dev recebe diagnóstico em &lt; 5 min — não passa horas debugando logs de CI</a:t>
            </a:r>
          </a:p>
        </p:txBody>
      </p:sp>
      <p:sp>
        <p:nvSpPr>
          <p:cNvPr id="25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10 / 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" name="Num"/>
          <p:cNvSpPr txBox="1"/>
          <p:nvPr/>
        </p:nvSpPr>
        <p:spPr>
          <a:xfrm>
            <a:off x="57150" y="80000"/>
            <a:ext cx="8686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3800" b="1" dirty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4" name="Name"/>
          <p:cNvSpPr txBox="1"/>
          <p:nvPr/>
        </p:nvSpPr>
        <p:spPr>
          <a:xfrm>
            <a:off x="991800" y="91440"/>
            <a:ext cx="562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2000" b="1" dirty="0">
                <a:solidFill>
                  <a:srgbClr val="FFFFFF"/>
                </a:solidFill>
                <a:latin typeface="Calibri"/>
              </a:rPr>
              <a:t>Agente 05 — Test</a:t>
            </a:r>
          </a:p>
          <a:p>
            <a:pPr indent="0" marL="0">
              <a:buNone/>
            </a:pPr>
            <a:r>
              <a:rPr lang="pt-BR" sz="1000" b="0" i="1" dirty="0">
                <a:solidFill>
                  <a:srgbClr val="FFFFFF"/>
                </a:solidFill>
                <a:latin typeface="Calibri"/>
              </a:rPr>
              <a:t>Modo 2 — Eval Suite: CI gate de configuração dos agentes</a:t>
            </a:r>
          </a:p>
        </p:txBody>
      </p:sp>
      <p:sp>
        <p:nvSpPr>
          <p:cNvPr id="5" name="Stage"/>
          <p:cNvSpPr txBox="1"/>
          <p:nvPr/>
        </p:nvSpPr>
        <p:spPr>
          <a:xfrm>
            <a:off x="6781680" y="137160"/>
            <a:ext cx="1142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FFFFFF"/>
                </a:solidFill>
                <a:latin typeface="Calibri"/>
              </a:rPr>
              <a:t>[ Test ]</a:t>
            </a:r>
          </a:p>
        </p:txBody>
      </p:sp>
      <p:sp>
        <p:nvSpPr>
          <p:cNvPr id="6" name="Runtime"/>
          <p:cNvSpPr txBox="1"/>
          <p:nvPr/>
        </p:nvSpPr>
        <p:spPr>
          <a:xfrm>
            <a:off x="6552960" y="388080"/>
            <a:ext cx="236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780" b="0" i="1" dirty="0">
                <a:solidFill>
                  <a:srgbClr val="FFFFFF"/>
                </a:solidFill>
                <a:latin typeface="Calibri"/>
              </a:rPr>
              <a:t>Copilot API + eval-suite.yml</a:t>
            </a:r>
          </a:p>
        </p:txBody>
      </p:sp>
      <p:sp>
        <p:nvSpPr>
          <p:cNvPr id="7" name="Tag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FEF2F2"/>
          </a:solidFill>
          <a:ln/>
        </p:spPr>
      </p:sp>
      <p:sp>
        <p:nvSpPr>
          <p:cNvPr id="8" name="Tagline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algn="ctr" indent="0" marL="0">
              <a:buNone/>
            </a:pPr>
            <a:r>
              <a:rPr lang="pt-BR" sz="1150" b="0" i="1" dirty="0">
                <a:solidFill>
                  <a:srgbClr val="DC2626"/>
                </a:solidFill>
                <a:latin typeface="Calibri"/>
              </a:rPr>
              <a:t>"Acionado por mudanças de configuração dos agentes — não por PRs de feature. Cobre todos os 7 agentes."</a:t>
            </a:r>
          </a:p>
        </p:txBody>
      </p:sp>
      <p:sp>
        <p:nvSpPr>
          <p:cNvPr id="9" name="ColBg"/>
          <p:cNvSpPr/>
          <p:nvPr/>
        </p:nvSpPr>
        <p:spPr>
          <a:xfrm>
            <a:off x="1146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0" name="LblBg"/>
          <p:cNvSpPr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1" name="Lbl"/>
          <p:cNvSpPr txBox="1"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80" b="1" dirty="0">
                <a:solidFill>
                  <a:srgbClr val="FFFFFF"/>
                </a:solidFill>
                <a:latin typeface="Calibri"/>
              </a:rPr>
              <a:t>ENTRADA</a:t>
            </a:r>
          </a:p>
        </p:txBody>
      </p:sp>
      <p:sp>
        <p:nvSpPr>
          <p:cNvPr id="12" name="ColContent"/>
          <p:cNvSpPr txBox="1"/>
          <p:nvPr/>
        </p:nvSpPr>
        <p:spPr>
          <a:xfrm>
            <a:off x="1146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Trigger: mudança em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.github/copilot-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instructions.md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agents/*/evals/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platform-knowledge/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(NÃO por PRs de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feature ou bugfix)</a:t>
            </a:r>
          </a:p>
        </p:txBody>
      </p:sp>
      <p:sp>
        <p:nvSpPr>
          <p:cNvPr id="13" name="ColBg"/>
          <p:cNvSpPr/>
          <p:nvPr/>
        </p:nvSpPr>
        <p:spPr>
          <a:xfrm>
            <a:off x="29724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4" name="LblBg"/>
          <p:cNvSpPr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5" name="Lbl"/>
          <p:cNvSpPr txBox="1"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80" b="1" dirty="0">
                <a:solidFill>
                  <a:srgbClr val="FFFFFF"/>
                </a:solidFill>
                <a:latin typeface="Calibri"/>
              </a:rPr>
              <a:t>O QUE FAZ</a:t>
            </a:r>
          </a:p>
        </p:txBody>
      </p:sp>
      <p:sp>
        <p:nvSpPr>
          <p:cNvPr id="16" name="ColContent"/>
          <p:cNvSpPr txBox="1"/>
          <p:nvPr/>
        </p:nvSpPr>
        <p:spPr>
          <a:xfrm>
            <a:off x="29724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1. eval-suite.yml dispara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para todos os 7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agentes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2. Roda tasks de eval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de cada agente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3. Graders code-based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+ model-based avaliam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4. Bloqueia merge se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pass rate &lt; threshold</a:t>
            </a:r>
          </a:p>
        </p:txBody>
      </p:sp>
      <p:sp>
        <p:nvSpPr>
          <p:cNvPr id="17" name="ColBg"/>
          <p:cNvSpPr/>
          <p:nvPr/>
        </p:nvSpPr>
        <p:spPr>
          <a:xfrm>
            <a:off x="58302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8" name="LblBg"/>
          <p:cNvSpPr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9" name="Lbl"/>
          <p:cNvSpPr txBox="1"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80" b="1" dirty="0">
                <a:solidFill>
                  <a:srgbClr val="FFFFFF"/>
                </a:solidFill>
                <a:latin typeface="Calibri"/>
              </a:rPr>
              <a:t>SAÍDA</a:t>
            </a:r>
          </a:p>
        </p:txBody>
      </p:sp>
      <p:sp>
        <p:nvSpPr>
          <p:cNvPr id="20" name="ColContent"/>
          <p:cNvSpPr txBox="1"/>
          <p:nvPr/>
        </p:nvSpPr>
        <p:spPr>
          <a:xfrm>
            <a:off x="58302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Relatório por agente: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pass rate + tendência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semanal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Falhas detalhadas: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task + causa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PR liberado ou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bloqueado para merge</a:t>
            </a:r>
          </a:p>
        </p:txBody>
      </p:sp>
      <p:sp>
        <p:nvSpPr>
          <p:cNvPr id="21" name="FooterBg"/>
          <p:cNvSpPr/>
          <p:nvPr/>
        </p:nvSpPr>
        <p:spPr>
          <a:xfrm>
            <a:off x="0" y="4389120"/>
            <a:ext cx="9144000" cy="5943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FDiv"/>
          <p:cNvSpPr/>
          <p:nvPr/>
        </p:nvSpPr>
        <p:spPr>
          <a:xfrm>
            <a:off x="4480560" y="4480560"/>
            <a:ext cx="18000" cy="41148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23" name="Gate"/>
          <p:cNvSpPr txBox="1"/>
          <p:nvPr/>
        </p:nvSpPr>
        <p:spPr>
          <a:xfrm>
            <a:off x="114600" y="4389120"/>
            <a:ext cx="432000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800" b="1" dirty="0">
                <a:solidFill>
                  <a:srgbClr val="DC2626"/>
                </a:solidFill>
                <a:latin typeface="Calibri"/>
              </a:rPr>
              <a:t>GATE</a:t>
            </a:r>
          </a:p>
          <a:p>
            <a:pPr indent="0" marL="0">
              <a:buNone/>
            </a:pPr>
            <a:r>
              <a:rPr lang="pt-BR" sz="930" b="0" dirty="0">
                <a:solidFill>
                  <a:srgbClr val="334155"/>
                </a:solidFill>
                <a:latin typeface="Calibri"/>
              </a:rPr>
              <a:t>CI automático — tech lead define threshold (padrão: 85% global, 80% por agente)</a:t>
            </a:r>
          </a:p>
        </p:txBody>
      </p:sp>
      <p:sp>
        <p:nvSpPr>
          <p:cNvPr id="24" name="Muda"/>
          <p:cNvSpPr txBox="1"/>
          <p:nvPr/>
        </p:nvSpPr>
        <p:spPr>
          <a:xfrm>
            <a:off x="4571640" y="4389120"/>
            <a:ext cx="347436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800" b="1" dirty="0">
                <a:solidFill>
                  <a:srgbClr val="DC2626"/>
                </a:solidFill>
                <a:latin typeface="Calibri"/>
              </a:rPr>
              <a:t>O QUE MUDA</a:t>
            </a:r>
          </a:p>
          <a:p>
            <a:pPr indent="0" marL="0">
              <a:buNone/>
            </a:pPr>
            <a:r>
              <a:rPr lang="pt-BR" sz="930" b="0" dirty="0">
                <a:solidFill>
                  <a:srgbClr val="334155"/>
                </a:solidFill>
                <a:latin typeface="Calibri"/>
              </a:rPr>
              <a:t>Agentes têm testes como qualquer código — regressões de configuração bloqueadas em CI</a:t>
            </a:r>
          </a:p>
        </p:txBody>
      </p:sp>
      <p:sp>
        <p:nvSpPr>
          <p:cNvPr id="25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11 / 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Num"/>
          <p:cNvSpPr txBox="1"/>
          <p:nvPr/>
        </p:nvSpPr>
        <p:spPr>
          <a:xfrm>
            <a:off x="57150" y="80000"/>
            <a:ext cx="8686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3800" b="1" dirty="0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4" name="Name"/>
          <p:cNvSpPr txBox="1"/>
          <p:nvPr/>
        </p:nvSpPr>
        <p:spPr>
          <a:xfrm>
            <a:off x="991800" y="91440"/>
            <a:ext cx="562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2000" b="1" dirty="0">
                <a:solidFill>
                  <a:srgbClr val="FFFFFF"/>
                </a:solidFill>
                <a:latin typeface="Calibri"/>
              </a:rPr>
              <a:t>Agente 06 — Deploy</a:t>
            </a:r>
          </a:p>
        </p:txBody>
      </p:sp>
      <p:sp>
        <p:nvSpPr>
          <p:cNvPr id="5" name="Stage"/>
          <p:cNvSpPr txBox="1"/>
          <p:nvPr/>
        </p:nvSpPr>
        <p:spPr>
          <a:xfrm>
            <a:off x="6781680" y="137160"/>
            <a:ext cx="1142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FFFFFF"/>
                </a:solidFill>
                <a:latin typeface="Calibri"/>
              </a:rPr>
              <a:t>[ Deploy ]</a:t>
            </a:r>
          </a:p>
        </p:txBody>
      </p:sp>
      <p:sp>
        <p:nvSpPr>
          <p:cNvPr id="6" name="Runtime"/>
          <p:cNvSpPr txBox="1"/>
          <p:nvPr/>
        </p:nvSpPr>
        <p:spPr>
          <a:xfrm>
            <a:off x="6552960" y="388080"/>
            <a:ext cx="236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780" b="0" i="1" dirty="0">
                <a:solidFill>
                  <a:srgbClr val="FFFFFF"/>
                </a:solidFill>
                <a:latin typeface="Calibri"/>
              </a:rPr>
              <a:t>Copilot Code Review + Actions</a:t>
            </a:r>
          </a:p>
        </p:txBody>
      </p:sp>
      <p:sp>
        <p:nvSpPr>
          <p:cNvPr id="7" name="Tag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8" name="Tagline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algn="ctr" indent="0" marL="0">
              <a:buNone/>
            </a:pPr>
            <a:r>
              <a:rPr lang="pt-BR" sz="1150" b="0" i="1" dirty="0">
                <a:solidFill>
                  <a:srgbClr val="2563EB"/>
                </a:solidFill>
                <a:latin typeface="Calibri"/>
              </a:rPr>
              <a:t>"Revisa PRs automaticamente usando REVIEW.md como rubrica e spec.md como referência. O humano aprova — o Copilot executa."</a:t>
            </a:r>
          </a:p>
        </p:txBody>
      </p:sp>
      <p:sp>
        <p:nvSpPr>
          <p:cNvPr id="9" name="ColBg"/>
          <p:cNvSpPr/>
          <p:nvPr/>
        </p:nvSpPr>
        <p:spPr>
          <a:xfrm>
            <a:off x="1146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0" name="LblBg"/>
          <p:cNvSpPr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1" name="Lbl"/>
          <p:cNvSpPr txBox="1"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80" b="1" dirty="0">
                <a:solidFill>
                  <a:srgbClr val="FFFFFF"/>
                </a:solidFill>
                <a:latin typeface="Calibri"/>
              </a:rPr>
              <a:t>ENTRADA</a:t>
            </a:r>
          </a:p>
        </p:txBody>
      </p:sp>
      <p:sp>
        <p:nvSpPr>
          <p:cNvPr id="12" name="ColContent"/>
          <p:cNvSpPr txBox="1"/>
          <p:nvPr/>
        </p:nvSpPr>
        <p:spPr>
          <a:xfrm>
            <a:off x="1146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PR diff (código)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spec.md + plan.md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api-contract.md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REVIEW.md (rubrica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customizada por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bundle)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copilot-instructions.md</a:t>
            </a:r>
          </a:p>
        </p:txBody>
      </p:sp>
      <p:sp>
        <p:nvSpPr>
          <p:cNvPr id="13" name="ColBg"/>
          <p:cNvSpPr/>
          <p:nvPr/>
        </p:nvSpPr>
        <p:spPr>
          <a:xfrm>
            <a:off x="29724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4" name="LblBg"/>
          <p:cNvSpPr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5" name="Lbl"/>
          <p:cNvSpPr txBox="1"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80" b="1" dirty="0">
                <a:solidFill>
                  <a:srgbClr val="FFFFFF"/>
                </a:solidFill>
                <a:latin typeface="Calibri"/>
              </a:rPr>
              <a:t>O QUE FAZ</a:t>
            </a:r>
          </a:p>
        </p:txBody>
      </p:sp>
      <p:sp>
        <p:nvSpPr>
          <p:cNvPr id="16" name="ColContent"/>
          <p:cNvSpPr txBox="1"/>
          <p:nvPr/>
        </p:nvSpPr>
        <p:spPr>
          <a:xfrm>
            <a:off x="29724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1. Review automático: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bugs, segurança,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conformidade com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spec.md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2. Verifica feature flags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e status de adapters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3. Reviewer humano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recebe findings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priorizados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4. Aprovação → Staging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→ release manager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→ Produção</a:t>
            </a:r>
          </a:p>
        </p:txBody>
      </p:sp>
      <p:sp>
        <p:nvSpPr>
          <p:cNvPr id="17" name="ColBg"/>
          <p:cNvSpPr/>
          <p:nvPr/>
        </p:nvSpPr>
        <p:spPr>
          <a:xfrm>
            <a:off x="58302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8" name="LblBg"/>
          <p:cNvSpPr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9" name="Lbl"/>
          <p:cNvSpPr txBox="1"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80" b="1" dirty="0">
                <a:solidFill>
                  <a:srgbClr val="FFFFFF"/>
                </a:solidFill>
                <a:latin typeface="Calibri"/>
              </a:rPr>
              <a:t>SAÍDA</a:t>
            </a:r>
          </a:p>
        </p:txBody>
      </p:sp>
      <p:sp>
        <p:nvSpPr>
          <p:cNvPr id="20" name="ColContent"/>
          <p:cNvSpPr txBox="1"/>
          <p:nvPr/>
        </p:nvSpPr>
        <p:spPr>
          <a:xfrm>
            <a:off x="58302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Findings priorizados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(Important / Warning)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Decisão de aprovação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documentada no PR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Deploy Staging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(automático)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Deploy Produção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(release manager)</a:t>
            </a:r>
          </a:p>
        </p:txBody>
      </p:sp>
      <p:sp>
        <p:nvSpPr>
          <p:cNvPr id="21" name="FooterBg"/>
          <p:cNvSpPr/>
          <p:nvPr/>
        </p:nvSpPr>
        <p:spPr>
          <a:xfrm>
            <a:off x="0" y="4389120"/>
            <a:ext cx="9144000" cy="5943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FDiv"/>
          <p:cNvSpPr/>
          <p:nvPr/>
        </p:nvSpPr>
        <p:spPr>
          <a:xfrm>
            <a:off x="4480560" y="4480560"/>
            <a:ext cx="18000" cy="41148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23" name="Gate"/>
          <p:cNvSpPr txBox="1"/>
          <p:nvPr/>
        </p:nvSpPr>
        <p:spPr>
          <a:xfrm>
            <a:off x="114600" y="4389120"/>
            <a:ext cx="432000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800" b="1" dirty="0">
                <a:solidFill>
                  <a:srgbClr val="2563EB"/>
                </a:solidFill>
                <a:latin typeface="Calibri"/>
              </a:rPr>
              <a:t>GATE</a:t>
            </a:r>
          </a:p>
          <a:p>
            <a:pPr indent="0" marL="0">
              <a:buNone/>
            </a:pPr>
            <a:r>
              <a:rPr lang="pt-BR" sz="930" b="0" dirty="0">
                <a:solidFill>
                  <a:srgbClr val="334155"/>
                </a:solidFill>
                <a:latin typeface="Calibri"/>
              </a:rPr>
              <a:t>1 aprovação humana + CI green → Staging | Release manager → Produção</a:t>
            </a:r>
          </a:p>
        </p:txBody>
      </p:sp>
      <p:sp>
        <p:nvSpPr>
          <p:cNvPr id="24" name="Muda"/>
          <p:cNvSpPr txBox="1"/>
          <p:nvPr/>
        </p:nvSpPr>
        <p:spPr>
          <a:xfrm>
            <a:off x="4571640" y="4389120"/>
            <a:ext cx="347436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800" b="1" dirty="0">
                <a:solidFill>
                  <a:srgbClr val="2563EB"/>
                </a:solidFill>
                <a:latin typeface="Calibri"/>
              </a:rPr>
              <a:t>O QUE MUDA</a:t>
            </a:r>
          </a:p>
          <a:p>
            <a:pPr indent="0" marL="0">
              <a:buNone/>
            </a:pPr>
            <a:r>
              <a:rPr lang="pt-BR" sz="930" b="0" dirty="0">
                <a:solidFill>
                  <a:srgbClr val="334155"/>
                </a:solidFill>
                <a:latin typeface="Calibri"/>
              </a:rPr>
              <a:t>Review sistemático em &lt; 15 min — humano revisa findings, não o código linha a linha</a:t>
            </a:r>
          </a:p>
        </p:txBody>
      </p:sp>
      <p:sp>
        <p:nvSpPr>
          <p:cNvPr id="25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12 /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Num"/>
          <p:cNvSpPr txBox="1"/>
          <p:nvPr/>
        </p:nvSpPr>
        <p:spPr>
          <a:xfrm>
            <a:off x="57150" y="80000"/>
            <a:ext cx="8686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3800" b="1" dirty="0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4" name="Name"/>
          <p:cNvSpPr txBox="1"/>
          <p:nvPr/>
        </p:nvSpPr>
        <p:spPr>
          <a:xfrm>
            <a:off x="991800" y="91440"/>
            <a:ext cx="562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pt-BR" sz="2000" b="1" dirty="0">
                <a:solidFill>
                  <a:srgbClr val="FFFFFF"/>
                </a:solidFill>
                <a:latin typeface="Calibri"/>
              </a:rPr>
              <a:t>Agente 07 — Maintain</a:t>
            </a:r>
          </a:p>
        </p:txBody>
      </p:sp>
      <p:sp>
        <p:nvSpPr>
          <p:cNvPr id="5" name="Stage"/>
          <p:cNvSpPr txBox="1"/>
          <p:nvPr/>
        </p:nvSpPr>
        <p:spPr>
          <a:xfrm>
            <a:off x="6781680" y="137160"/>
            <a:ext cx="1142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900" b="1" dirty="0">
                <a:solidFill>
                  <a:srgbClr val="FFFFFF"/>
                </a:solidFill>
                <a:latin typeface="Calibri"/>
              </a:rPr>
              <a:t>[ Maintain ]</a:t>
            </a:r>
          </a:p>
        </p:txBody>
      </p:sp>
      <p:sp>
        <p:nvSpPr>
          <p:cNvPr id="6" name="Runtime"/>
          <p:cNvSpPr txBox="1"/>
          <p:nvPr/>
        </p:nvSpPr>
        <p:spPr>
          <a:xfrm>
            <a:off x="6552960" y="388080"/>
            <a:ext cx="2362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780" b="0" i="1" dirty="0">
                <a:solidFill>
                  <a:srgbClr val="FFFFFF"/>
                </a:solidFill>
                <a:latin typeface="Calibri"/>
              </a:rPr>
              <a:t>Actions (cron) + Firebase MCP + Journey API</a:t>
            </a:r>
          </a:p>
        </p:txBody>
      </p:sp>
      <p:sp>
        <p:nvSpPr>
          <p:cNvPr id="7" name="TagBg"/>
          <p:cNvSpPr/>
          <p:nvPr/>
        </p:nvSpPr>
        <p:spPr>
          <a:xfrm>
            <a:off x="0" y="685800"/>
            <a:ext cx="9144000" cy="411480"/>
          </a:xfrm>
          <a:prstGeom prst="rect">
            <a:avLst/>
          </a:prstGeom>
          <a:solidFill>
            <a:srgbClr val="F0FDFA"/>
          </a:solidFill>
          <a:ln/>
        </p:spPr>
      </p:sp>
      <p:sp>
        <p:nvSpPr>
          <p:cNvPr id="8" name="Tagline"/>
          <p:cNvSpPr txBox="1"/>
          <p:nvPr/>
        </p:nvSpPr>
        <p:spPr>
          <a:xfrm>
            <a:off x="228600" y="685800"/>
            <a:ext cx="8686800" cy="4114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ctr"/>
          <a:lstStyle/>
          <a:p>
            <a:pPr algn="ctr" indent="0" marL="0">
              <a:buNone/>
            </a:pPr>
            <a:r>
              <a:rPr lang="pt-BR" sz="1150" b="0" i="1" dirty="0">
                <a:solidFill>
                  <a:srgbClr val="0D9488"/>
                </a:solidFill>
                <a:latin typeface="Calibri"/>
              </a:rPr>
              <a:t>"Três fontes de monitoramento convergem em diagnóstico automático. Problemas de produção re-entram no pipeline como intent.md."</a:t>
            </a:r>
          </a:p>
        </p:txBody>
      </p:sp>
      <p:sp>
        <p:nvSpPr>
          <p:cNvPr id="9" name="ColBg"/>
          <p:cNvSpPr/>
          <p:nvPr/>
        </p:nvSpPr>
        <p:spPr>
          <a:xfrm>
            <a:off x="1146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0" name="LblBg"/>
          <p:cNvSpPr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1" name="Lbl"/>
          <p:cNvSpPr txBox="1"/>
          <p:nvPr/>
        </p:nvSpPr>
        <p:spPr>
          <a:xfrm>
            <a:off x="1146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80" b="1" dirty="0">
                <a:solidFill>
                  <a:srgbClr val="FFFFFF"/>
                </a:solidFill>
                <a:latin typeface="Calibri"/>
              </a:rPr>
              <a:t>ENTRADA</a:t>
            </a:r>
          </a:p>
        </p:txBody>
      </p:sp>
      <p:sp>
        <p:nvSpPr>
          <p:cNvPr id="12" name="ColContent"/>
          <p:cNvSpPr txBox="1"/>
          <p:nvPr/>
        </p:nvSpPr>
        <p:spPr>
          <a:xfrm>
            <a:off x="1146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Firebase Crashlytics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via Firebase MCP: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crashes + stacktraces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Journey Monitor API: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flows com queda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de taxa de sucesso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bands.yaml: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thresholds por bundle</a:t>
            </a:r>
          </a:p>
        </p:txBody>
      </p:sp>
      <p:sp>
        <p:nvSpPr>
          <p:cNvPr id="13" name="ColBg"/>
          <p:cNvSpPr/>
          <p:nvPr/>
        </p:nvSpPr>
        <p:spPr>
          <a:xfrm>
            <a:off x="29724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4" name="LblBg"/>
          <p:cNvSpPr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5" name="Lbl"/>
          <p:cNvSpPr txBox="1"/>
          <p:nvPr/>
        </p:nvSpPr>
        <p:spPr>
          <a:xfrm>
            <a:off x="29724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80" b="1" dirty="0">
                <a:solidFill>
                  <a:srgbClr val="FFFFFF"/>
                </a:solidFill>
                <a:latin typeface="Calibri"/>
              </a:rPr>
              <a:t>O QUE FAZ</a:t>
            </a:r>
          </a:p>
        </p:txBody>
      </p:sp>
      <p:sp>
        <p:nvSpPr>
          <p:cNvPr id="16" name="ColContent"/>
          <p:cNvSpPr txBox="1"/>
          <p:nvPr/>
        </p:nvSpPr>
        <p:spPr>
          <a:xfrm>
            <a:off x="29724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1. Correlaciona crashes +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drops de jornada +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erros de endpoint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2. Formula hipótese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de root cause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3. Gera pacote de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diagnóstico estruturado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4. Se acionável: gera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intent.md automático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e abre PR</a:t>
            </a:r>
          </a:p>
        </p:txBody>
      </p:sp>
      <p:sp>
        <p:nvSpPr>
          <p:cNvPr id="17" name="ColBg"/>
          <p:cNvSpPr/>
          <p:nvPr/>
        </p:nvSpPr>
        <p:spPr>
          <a:xfrm>
            <a:off x="5830200" y="114300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/>
        </p:spPr>
      </p:sp>
      <p:sp>
        <p:nvSpPr>
          <p:cNvPr id="18" name="LblBg"/>
          <p:cNvSpPr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9" name="Lbl"/>
          <p:cNvSpPr txBox="1"/>
          <p:nvPr/>
        </p:nvSpPr>
        <p:spPr>
          <a:xfrm>
            <a:off x="5830200" y="11430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pt-BR" sz="880" b="1" dirty="0">
                <a:solidFill>
                  <a:srgbClr val="FFFFFF"/>
                </a:solidFill>
                <a:latin typeface="Calibri"/>
              </a:rPr>
              <a:t>SAÍDA</a:t>
            </a:r>
          </a:p>
        </p:txBody>
      </p:sp>
      <p:sp>
        <p:nvSpPr>
          <p:cNvPr id="20" name="ColContent"/>
          <p:cNvSpPr txBox="1"/>
          <p:nvPr/>
        </p:nvSpPr>
        <p:spPr>
          <a:xfrm>
            <a:off x="5830200" y="1417320"/>
            <a:ext cx="2743200" cy="2926080"/>
          </a:xfrm>
          <a:prstGeom prst="rect">
            <a:avLst/>
          </a:prstGeom>
          <a:noFill/>
          <a:ln/>
        </p:spPr>
        <p:txBody>
          <a:bodyPr wrap="square" lIns="91440" tIns="57150" rIns="91440" bIns="57150" rtlCol="0" anchor="t"/>
          <a:lstStyle/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Relatório de diagnóstico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— Hipótese de root cause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— Correlações entre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  fontes</a:t>
            </a:r>
          </a:p>
          <a:p>
            <a:pPr indent="0" marL="0">
              <a:buNone/>
              <a:spcBef>
                <a:spcPts val="80"/>
              </a:spcBef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• intent.md gerado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(pronto para o on-call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aprovar e entrar no</a:t>
            </a:r>
          </a:p>
          <a:p>
            <a:pPr indent="0" marL="0">
              <a:buNone/>
            </a:pPr>
            <a:r>
              <a:rPr lang="pt-BR" sz="980" b="0" dirty="0">
                <a:solidFill>
                  <a:srgbClr val="1E293B"/>
                </a:solidFill>
                <a:latin typeface="Calibri"/>
              </a:rPr>
              <a:t>   pipeline)</a:t>
            </a:r>
          </a:p>
        </p:txBody>
      </p:sp>
      <p:sp>
        <p:nvSpPr>
          <p:cNvPr id="21" name="FooterBg"/>
          <p:cNvSpPr/>
          <p:nvPr/>
        </p:nvSpPr>
        <p:spPr>
          <a:xfrm>
            <a:off x="0" y="4389120"/>
            <a:ext cx="9144000" cy="59436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22" name="FDiv"/>
          <p:cNvSpPr/>
          <p:nvPr/>
        </p:nvSpPr>
        <p:spPr>
          <a:xfrm>
            <a:off x="4480560" y="4480560"/>
            <a:ext cx="18000" cy="411480"/>
          </a:xfrm>
          <a:prstGeom prst="rect">
            <a:avLst/>
          </a:prstGeom>
          <a:solidFill>
            <a:srgbClr val="94A3B8"/>
          </a:solidFill>
          <a:ln/>
        </p:spPr>
      </p:sp>
      <p:sp>
        <p:nvSpPr>
          <p:cNvPr id="23" name="Gate"/>
          <p:cNvSpPr txBox="1"/>
          <p:nvPr/>
        </p:nvSpPr>
        <p:spPr>
          <a:xfrm>
            <a:off x="114600" y="4389120"/>
            <a:ext cx="432000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800" b="1" dirty="0">
                <a:solidFill>
                  <a:srgbClr val="0D9488"/>
                </a:solidFill>
                <a:latin typeface="Calibri"/>
              </a:rPr>
              <a:t>GATE</a:t>
            </a:r>
          </a:p>
          <a:p>
            <a:pPr indent="0" marL="0">
              <a:buNone/>
            </a:pPr>
            <a:r>
              <a:rPr lang="pt-BR" sz="930" b="0" dirty="0">
                <a:solidFill>
                  <a:srgbClr val="334155"/>
                </a:solidFill>
                <a:latin typeface="Calibri"/>
              </a:rPr>
              <a:t>On-call engineer — revisa diagnóstico e decide se aprova o intent.md gerado</a:t>
            </a:r>
          </a:p>
        </p:txBody>
      </p:sp>
      <p:sp>
        <p:nvSpPr>
          <p:cNvPr id="24" name="Muda"/>
          <p:cNvSpPr txBox="1"/>
          <p:nvPr/>
        </p:nvSpPr>
        <p:spPr>
          <a:xfrm>
            <a:off x="4571640" y="4389120"/>
            <a:ext cx="3474360" cy="59436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indent="0" marL="0">
              <a:buNone/>
            </a:pPr>
            <a:r>
              <a:rPr lang="pt-BR" sz="800" b="1" dirty="0">
                <a:solidFill>
                  <a:srgbClr val="0D9488"/>
                </a:solidFill>
                <a:latin typeface="Calibri"/>
              </a:rPr>
              <a:t>O QUE MUDA</a:t>
            </a:r>
          </a:p>
          <a:p>
            <a:pPr indent="0" marL="0">
              <a:buNone/>
            </a:pPr>
            <a:r>
              <a:rPr lang="pt-BR" sz="930" b="0" dirty="0">
                <a:solidFill>
                  <a:srgbClr val="334155"/>
                </a:solidFill>
                <a:latin typeface="Calibri"/>
              </a:rPr>
              <a:t>On-call recebe hipótese estruturada, não dados brutos — e o fix entra no pipeline com rastreabilidade</a:t>
            </a:r>
          </a:p>
        </p:txBody>
      </p:sp>
      <p:sp>
        <p:nvSpPr>
          <p:cNvPr id="25" name="Page"/>
          <p:cNvSpPr txBox="1"/>
          <p:nvPr/>
        </p:nvSpPr>
        <p:spPr>
          <a:xfrm>
            <a:off x="7955280" y="473659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pt-BR" sz="900" b="0" dirty="0">
                <a:solidFill>
                  <a:srgbClr val="94A3B8"/>
                </a:solidFill>
                <a:latin typeface="Calibri"/>
              </a:rPr>
              <a:t>13 / 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2026-09-09T15:31:41Z</dcterms:created>
  <dcterms:modified xsi:type="dcterms:W3CDTF">2026-09-09T15:31:41Z</dcterms:modified>
</cp:coreProperties>
</file>